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2.svg" ContentType="image/svg"/>
  <Override PartName="/ppt/media/image4.svg" ContentType="image/svg"/>
  <Override PartName="/ppt/media/image9.svg" ContentType="image/sv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8288000" cy="10287000"/>
  <p:notesSz cx="6858000" cy="9144000"/>
  <p:embeddedFontLst>
    <p:embeddedFont>
      <p:font typeface="Open Sauce Bold"/>
    </p:embeddedFont>
    <p:embeddedFont>
      <p:font typeface="Helvetica World Bold"/>
    </p:embeddedFont>
    <p:embeddedFont>
      <p:font typeface="Helvetica World"/>
      <p:regular r:id="rId28"/>
    </p:embeddedFont>
    <p:embeddedFont>
      <p:font typeface="Open Sauce"/>
      <p:regular r:id="rId29"/>
    </p:embeddedFont>
    <p:embeddedFont>
      <p:font typeface="Bebas Neue Bold"/>
    </p:embeddedFont>
    <p:embeddedFont>
      <p:font typeface="DejaVu Serif Bold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font" Target="fonts/Font_1_Helvetica_World_Regular.fntdata"/><Relationship Id="rId29" Type="http://schemas.openxmlformats.org/officeDocument/2006/relationships/font" Target="fonts/Font_2_Open_Sauce_Regular.fntdata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Slaytı taşımak için tıklayın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Notların biçimini düzenlemek için tıklayın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72EF99-7F6C-48A4-9946-44D124992B67}" type="slidenum"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merhaba ben eren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5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5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https://github.com/analogdevicesinc/hdl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https://github.com/analogdevicesinc/no-OS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https://github.com/analogdevicesinc/linux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https://github.com/analogdevicesinc/libiio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https://github.com/analogdevicesinc/pyadi-iio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https://analogdevicesinc.github.io/hdl/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https://docs.amd.com/v/u/2020.1-English/ug906-vivado-design-analysis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https://docs.amd.com/v/u/en-US/ug1085-zynq-ultrascale-trm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5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https://www.analog.com/en/products/ad9364.html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https://wiki.analog.com/resources/eval/user-guides/ad-fmcomms3-ebz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C:/Users/DELL/Desktop/Yazilim/FPGA-Profen/Related-Docs/AXU4EVB-P_UG en-US.pdf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C:/Users/DELL/Desktop/Yazilim/FPGA-Profen/Related-Docs/AXU4EV-P_AXU5EV-P/hardware/Schematics/AXU4EV-P_AXU5EV-P_SCH.pdf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https://www.analog.com/media/en/technical-documentation/data-sheets/hmc936a.pdf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https://www.minicircuits.com/WebStore/dashboard.html?model=ZX80-DR230-S%2B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https://doi.org/10.1109/ACCESS.2020.3022932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C:/Users/DELL/Desktop/Yazilim/FPGA-Profen/Related-Docs/ad9364_schematic.pdf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6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084179-E63D-416D-A21F-006DCBB7321A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5B31CC-8158-430D-9926-1E800C7189E0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tr-T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tr-T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tr-T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F38EC6-F910-4686-A50D-AFCF47300049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tr-T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tr-TR" sz="2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tr-T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BEE3CF-205B-4F4E-BDF5-6DB861F01923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tr-T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tr-T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325899-8BE4-48A5-BA62-BDCBC83DBD9E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F4F4F8-07E2-42F6-B33C-F2D4BF4BDB08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 başlık metnini düzenlemek için tıklayın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tr-T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tr-TR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D2AB8A-5740-4F0F-A72B-792CF5739EC7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4041DB-5749-4C4C-BB23-A32135F3C6B1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tr-TR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3F45B5-33AC-4EFB-A972-EE1760FC5019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tr-TR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tr-T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tr-TR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tr-T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tr-TR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tr-T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tr-TR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tr-T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2E5634-AC58-453E-929A-7BE196614647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tr-TR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tr-T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F9BAE8-08E1-43E8-9740-C44ACCF43362}" type="slidenum">
              <a:rPr lang="tr-T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github.com/analogdevicesinc/hdl" TargetMode="External"/><Relationship Id="rId2" Type="http://schemas.openxmlformats.org/officeDocument/2006/relationships/hyperlink" Target="https://github.com/analogdevicesinc/no-OS" TargetMode="External"/><Relationship Id="rId3" Type="http://schemas.openxmlformats.org/officeDocument/2006/relationships/hyperlink" Target="https://github.com/analogdevicesinc/linux" TargetMode="External"/><Relationship Id="rId4" Type="http://schemas.openxmlformats.org/officeDocument/2006/relationships/hyperlink" Target="https://github.com/analogdevicesinc/libiio" TargetMode="External"/><Relationship Id="rId5" Type="http://schemas.openxmlformats.org/officeDocument/2006/relationships/hyperlink" Target="https://github.com/analogdevicesinc/pyadi-iio" TargetMode="External"/><Relationship Id="rId6" Type="http://schemas.openxmlformats.org/officeDocument/2006/relationships/hyperlink" Target="https://analogdevicesinc.github.io/hdl/" TargetMode="External"/><Relationship Id="rId7" Type="http://schemas.openxmlformats.org/officeDocument/2006/relationships/hyperlink" Target="https://docs.amd.com/v/u/2020.1-English/ug906-vivado-design-analysis" TargetMode="External"/><Relationship Id="rId8" Type="http://schemas.openxmlformats.org/officeDocument/2006/relationships/hyperlink" Target="https://docs.amd.com/v/u/en-US/ug1085-zynq-ultrascale-trm" TargetMode="External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www.analog.com/en/products/ad9364.html" TargetMode="External"/><Relationship Id="rId2" Type="http://schemas.openxmlformats.org/officeDocument/2006/relationships/hyperlink" Target="https://wiki.analog.com/resources/eval/user-guides/ad-fmcomms3-ebz" TargetMode="External"/><Relationship Id="rId3" Type="http://schemas.openxmlformats.org/officeDocument/2006/relationships/hyperlink" Target="https://www.analog.com/media/en/technical-documentation/data-sheets/hmc936a.pdf" TargetMode="External"/><Relationship Id="rId4" Type="http://schemas.openxmlformats.org/officeDocument/2006/relationships/hyperlink" Target="https://www.minicircuits.com/WebStore/dashboard.html?model=ZX80-DR230-S%2B" TargetMode="External"/><Relationship Id="rId5" Type="http://schemas.openxmlformats.org/officeDocument/2006/relationships/hyperlink" Target="https://doi.org/10.1109/ACCESS.2020.3022932" TargetMode="External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42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3"/>
          <p:cNvSpPr/>
          <p:nvPr/>
        </p:nvSpPr>
        <p:spPr>
          <a:xfrm>
            <a:off x="0" y="0"/>
            <a:ext cx="20051640" cy="10286640"/>
          </a:xfrm>
          <a:custGeom>
            <a:avLst/>
            <a:gdLst>
              <a:gd name="textAreaLeft" fmla="*/ 0 w 20051640"/>
              <a:gd name="textAreaRight" fmla="*/ 20052000 w 20051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5281214" h="2709333">
                <a:moveTo>
                  <a:pt x="0" y="0"/>
                </a:moveTo>
                <a:lnTo>
                  <a:pt x="5281214" y="0"/>
                </a:lnTo>
                <a:lnTo>
                  <a:pt x="528121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D428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0" y="72360"/>
            <a:ext cx="20051640" cy="102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5"/>
          <p:cNvSpPr/>
          <p:nvPr/>
        </p:nvSpPr>
        <p:spPr>
          <a:xfrm>
            <a:off x="16934400" y="702360"/>
            <a:ext cx="652680" cy="652680"/>
          </a:xfrm>
          <a:custGeom>
            <a:avLst/>
            <a:gdLst>
              <a:gd name="textAreaLeft" fmla="*/ 0 w 652680"/>
              <a:gd name="textAreaRight" fmla="*/ 653040 w 652680"/>
              <a:gd name="textAreaTop" fmla="*/ 0 h 652680"/>
              <a:gd name="textAreaBottom" fmla="*/ 653040 h 652680"/>
            </a:gdLst>
            <a:ahLst/>
            <a:cxnLst/>
            <a:rect l="textAreaLeft" t="textAreaTop" r="textAreaRight" b="textAreaBottom"/>
            <a:pathLst>
              <a:path w="652995" h="652995">
                <a:moveTo>
                  <a:pt x="0" y="0"/>
                </a:moveTo>
                <a:lnTo>
                  <a:pt x="652995" y="0"/>
                </a:lnTo>
                <a:lnTo>
                  <a:pt x="652995" y="652994"/>
                </a:lnTo>
                <a:lnTo>
                  <a:pt x="0" y="6529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6"/>
          <p:cNvSpPr/>
          <p:nvPr/>
        </p:nvSpPr>
        <p:spPr>
          <a:xfrm>
            <a:off x="700560" y="60732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4" y="0"/>
                </a:lnTo>
                <a:lnTo>
                  <a:pt x="849234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reeform 7"/>
          <p:cNvSpPr/>
          <p:nvPr/>
        </p:nvSpPr>
        <p:spPr>
          <a:xfrm>
            <a:off x="10645920" y="3814920"/>
            <a:ext cx="10002240" cy="6876360"/>
          </a:xfrm>
          <a:custGeom>
            <a:avLst/>
            <a:gdLst>
              <a:gd name="textAreaLeft" fmla="*/ 0 w 10002240"/>
              <a:gd name="textAreaRight" fmla="*/ 10002600 w 10002240"/>
              <a:gd name="textAreaTop" fmla="*/ 0 h 6876360"/>
              <a:gd name="textAreaBottom" fmla="*/ 6876720 h 6876360"/>
            </a:gdLst>
            <a:ahLst/>
            <a:cxnLst/>
            <a:rect l="textAreaLeft" t="textAreaTop" r="textAreaRight" b="textAreaBottom"/>
            <a:pathLst>
              <a:path w="10002755" h="6876894">
                <a:moveTo>
                  <a:pt x="0" y="0"/>
                </a:moveTo>
                <a:lnTo>
                  <a:pt x="10002755" y="0"/>
                </a:lnTo>
                <a:lnTo>
                  <a:pt x="10002755" y="6876894"/>
                </a:lnTo>
                <a:lnTo>
                  <a:pt x="0" y="68768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reeform 8"/>
          <p:cNvSpPr/>
          <p:nvPr/>
        </p:nvSpPr>
        <p:spPr>
          <a:xfrm flipH="1">
            <a:off x="-2915640" y="3814920"/>
            <a:ext cx="10290960" cy="7075080"/>
          </a:xfrm>
          <a:custGeom>
            <a:avLst/>
            <a:gdLst>
              <a:gd name="textAreaLeft" fmla="*/ 360 w 10290960"/>
              <a:gd name="textAreaRight" fmla="*/ 10291680 w 10290960"/>
              <a:gd name="textAreaTop" fmla="*/ 0 h 7075080"/>
              <a:gd name="textAreaBottom" fmla="*/ 7075440 h 7075080"/>
            </a:gdLst>
            <a:ahLst/>
            <a:cxnLst/>
            <a:rect l="textAreaLeft" t="textAreaTop" r="textAreaRight" b="textAreaBottom"/>
            <a:pathLst>
              <a:path w="10291335" h="7075292">
                <a:moveTo>
                  <a:pt x="10291335" y="0"/>
                </a:moveTo>
                <a:lnTo>
                  <a:pt x="0" y="0"/>
                </a:lnTo>
                <a:lnTo>
                  <a:pt x="0" y="7075292"/>
                </a:lnTo>
                <a:lnTo>
                  <a:pt x="10291335" y="7075292"/>
                </a:lnTo>
                <a:lnTo>
                  <a:pt x="10291335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AutoShape 9"/>
          <p:cNvSpPr/>
          <p:nvPr/>
        </p:nvSpPr>
        <p:spPr>
          <a:xfrm>
            <a:off x="1028520" y="9837720"/>
            <a:ext cx="16230600" cy="360"/>
          </a:xfrm>
          <a:prstGeom prst="line">
            <a:avLst/>
          </a:prstGeom>
          <a:ln w="19050">
            <a:solidFill>
              <a:srgbClr val="474C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10"/>
          <p:cNvSpPr/>
          <p:nvPr/>
        </p:nvSpPr>
        <p:spPr>
          <a:xfrm>
            <a:off x="4859280" y="-2499840"/>
            <a:ext cx="8569440" cy="7057080"/>
          </a:xfrm>
          <a:custGeom>
            <a:avLst/>
            <a:gdLst>
              <a:gd name="textAreaLeft" fmla="*/ 0 w 8569440"/>
              <a:gd name="textAreaRight" fmla="*/ 8569800 w 8569440"/>
              <a:gd name="textAreaTop" fmla="*/ 0 h 7057080"/>
              <a:gd name="textAreaBottom" fmla="*/ 7057440 h 7057080"/>
            </a:gdLst>
            <a:ahLst/>
            <a:cxnLst/>
            <a:rect l="textAreaLeft" t="textAreaTop" r="textAreaRight" b="textAreaBottom"/>
            <a:pathLst>
              <a:path w="8569730" h="7057425">
                <a:moveTo>
                  <a:pt x="0" y="0"/>
                </a:moveTo>
                <a:lnTo>
                  <a:pt x="8569730" y="0"/>
                </a:lnTo>
                <a:lnTo>
                  <a:pt x="8569730" y="7057424"/>
                </a:lnTo>
                <a:lnTo>
                  <a:pt x="0" y="70574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1714680" y="1238400"/>
            <a:ext cx="14858640" cy="20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ts val="15398"/>
              </a:lnSpc>
            </a:pPr>
            <a:r>
              <a:rPr lang="tr-TR" sz="8850" b="1" u="none" strike="noStrike">
                <a:solidFill>
                  <a:srgbClr val="102A43"/>
                </a:solidFill>
                <a:effectLst/>
                <a:uFillTx/>
                <a:latin typeface="Bebas Neue Bold"/>
                <a:ea typeface="Bebas Neue Bold"/>
              </a:rPr>
              <a:t>STAJ SUNUMU</a:t>
            </a:r>
            <a:endParaRPr lang="tr-TR" sz="8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0" y="3585240"/>
            <a:ext cx="18287640" cy="183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7279"/>
              </a:lnSpc>
            </a:pPr>
            <a:r>
              <a:rPr lang="tr-TR" sz="5200" b="1" u="none" strike="noStrike">
                <a:solidFill>
                  <a:srgbClr val="FFFFFF"/>
                </a:solidFill>
                <a:effectLst/>
                <a:uFillTx/>
                <a:latin typeface="DejaVu Serif Bold"/>
                <a:ea typeface="DejaVu Serif Bold"/>
              </a:rPr>
              <a:t>AXU4EVB-P + AD9364 Gerçek Zamanlı FPGA FFT ve Monopulse Altyapısı</a:t>
            </a:r>
            <a:endParaRPr lang="tr-T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3"/>
          <p:cNvSpPr/>
          <p:nvPr/>
        </p:nvSpPr>
        <p:spPr>
          <a:xfrm>
            <a:off x="3406680" y="8280000"/>
            <a:ext cx="11474640" cy="11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6301"/>
              </a:lnSpc>
            </a:pPr>
            <a:r>
              <a:rPr lang="tr-TR" sz="4500" b="1" u="none" strike="noStrike">
                <a:solidFill>
                  <a:srgbClr val="FFFFFF"/>
                </a:solidFill>
                <a:effectLst/>
                <a:uFillTx/>
                <a:latin typeface="Open Sauce Bold"/>
                <a:ea typeface="Open Sauce Bold"/>
              </a:rPr>
              <a:t>Eren Kale</a:t>
            </a:r>
            <a:endParaRPr lang="tr-TR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ts val="2801"/>
              </a:lnSpc>
            </a:pPr>
            <a:r>
              <a:rPr lang="tr-TR" sz="2000" b="1" u="none" strike="noStrike">
                <a:solidFill>
                  <a:srgbClr val="FFFFFF"/>
                </a:solidFill>
                <a:effectLst/>
                <a:uFillTx/>
                <a:latin typeface="Open Sauce Bold"/>
                <a:ea typeface="Open Sauce Bold"/>
              </a:rPr>
              <a:t>Marmara Üniversitesi Teknoloji Fakültesi Elektrik - Elektronik Mühendisliği 4. Sınıf Öğrencisi</a:t>
            </a:r>
            <a:endParaRPr lang="tr-T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cover-tech-tag-bg"/>
          <p:cNvSpPr/>
          <p:nvPr/>
        </p:nvSpPr>
        <p:spPr>
          <a:xfrm>
            <a:off x="6114960" y="7662240"/>
            <a:ext cx="6057720" cy="43776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tr-TR" sz="1430" b="1" u="none" strike="noStrike">
                <a:solidFill>
                  <a:srgbClr val="FFFFFF"/>
                </a:solidFill>
                <a:effectLst/>
                <a:uFillTx/>
                <a:latin typeface="Open Sauce Bold"/>
                <a:ea typeface="Open Sauce Bold"/>
              </a:rPr>
              <a:t>FPGA  •  RF  •  BARE-METAL  •  PYTHON</a:t>
            </a:r>
            <a:endParaRPr lang="tr-T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4D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2"/>
          <p:cNvSpPr/>
          <p:nvPr/>
        </p:nvSpPr>
        <p:spPr>
          <a:xfrm>
            <a:off x="16410240" y="140976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reeform 3"/>
          <p:cNvSpPr/>
          <p:nvPr/>
        </p:nvSpPr>
        <p:spPr>
          <a:xfrm>
            <a:off x="11989440" y="1938960"/>
            <a:ext cx="5269680" cy="7318800"/>
          </a:xfrm>
          <a:custGeom>
            <a:avLst/>
            <a:gdLst>
              <a:gd name="textAreaLeft" fmla="*/ 0 w 5269680"/>
              <a:gd name="textAreaRight" fmla="*/ 5270040 w 5269680"/>
              <a:gd name="textAreaTop" fmla="*/ 0 h 7318800"/>
              <a:gd name="textAreaBottom" fmla="*/ 7319160 h 7318800"/>
            </a:gdLst>
            <a:ahLst/>
            <a:cxnLst/>
            <a:rect l="textAreaLeft" t="textAreaTop" r="textAreaRight" b="textAreaBottom"/>
            <a:pathLst>
              <a:path w="5269884" h="7319284">
                <a:moveTo>
                  <a:pt x="0" y="0"/>
                </a:moveTo>
                <a:lnTo>
                  <a:pt x="5269884" y="0"/>
                </a:lnTo>
                <a:lnTo>
                  <a:pt x="5269884" y="7319284"/>
                </a:lnTo>
                <a:lnTo>
                  <a:pt x="0" y="73192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1028880" y="1072080"/>
            <a:ext cx="9996120" cy="15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1028880" y="3361320"/>
            <a:ext cx="7786800" cy="43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ARAŞTIRMA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Gereksinimler ve plan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Vivado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Vitis ve kart bring-up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RF testleri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FPGA FFT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Bare-metal + Python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297"/>
              </a:lnSpc>
            </a:pPr>
            <a:r>
              <a:rPr lang="tr-TR" sz="3909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Monopulse yol haritası</a:t>
            </a:r>
            <a:endParaRPr lang="tr-TR" sz="39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design-header-2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design-header-2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design-header-2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design-header-2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design-header-2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design-header-2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design-header-2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design-header-2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design-accent-2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design-section-2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01 / BAĞLAM &amp; PLAN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design-footer-bg-2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design-footer-accent-2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design-footer-label-2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design-page-2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02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design-title-2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SUNUM AKIŞI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reeform 2"/>
          <p:cNvSpPr/>
          <p:nvPr/>
        </p:nvSpPr>
        <p:spPr>
          <a:xfrm>
            <a:off x="16560000" y="137880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30"/>
                </a:lnTo>
                <a:lnTo>
                  <a:pt x="0" y="4215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Table 3"/>
          <p:cNvGraphicFramePr/>
          <p:nvPr/>
        </p:nvGraphicFramePr>
        <p:xfrm>
          <a:off x="2790720" y="1380960"/>
          <a:ext cx="13617720" cy="8339040"/>
        </p:xfrm>
        <a:graphic>
          <a:graphicData uri="http://schemas.openxmlformats.org/drawingml/2006/table">
            <a:tbl>
              <a:tblPr/>
              <a:tblGrid>
                <a:gridCol w="4007520"/>
                <a:gridCol w="3062520"/>
                <a:gridCol w="6548040"/>
              </a:tblGrid>
              <a:tr h="114804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lang="tr-TR" sz="2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 Bold"/>
                          <a:ea typeface="Helvetica World Bold"/>
                        </a:rPr>
                        <a:t>Katman</a:t>
                      </a:r>
                      <a:endParaRPr lang="tr-TR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lang="tr-TR" sz="2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 Bold"/>
                          <a:ea typeface="Helvetica World Bold"/>
                        </a:rPr>
                        <a:t>Güncel durum</a:t>
                      </a:r>
                      <a:endParaRPr lang="tr-TR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220"/>
                        </a:lnSpc>
                      </a:pPr>
                      <a:r>
                        <a:rPr lang="tr-TR" sz="2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 Bold"/>
                          <a:ea typeface="Helvetica World Bold"/>
                        </a:rPr>
                        <a:t>Doğrulama</a:t>
                      </a:r>
                      <a:endParaRPr lang="tr-TR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ACFF"/>
                    </a:solidFill>
                  </a:tcPr>
                </a:tc>
              </a:tr>
              <a:tr h="898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Vivado ve kart constraint’leri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Tamamlandı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Bitstream, `WNS +0.144 ns`, DRC `0`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  <a:tr h="898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Vitis/JTAG başlatma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Tamamlandı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PMUFW, DDR kapısı ve Golden/Candidate launcher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  <a:tr h="898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AD9364 ve DMA bring-up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Tamamlandı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Rev 2 init ve 65.536 örnek DMA `Done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  <a:tr h="898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RF aktivite algılama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Tamamlandı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İki 2.4 GHz Wi-Fi karşılaştırma koşusu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  <a:tr h="898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2048 noktalı PL FFT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Tamamlandı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Bit-doğru model, tek-frame ve 100-frame kart testi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  <a:tr h="898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Bare-metal + Python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Tamamlandı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Protocol v2, CRC, 2048 bin ve 61 Python testi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  <a:tr h="898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Kontrollü CW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Lab’da denenecek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SMW200A ile bin 20/bin 100 testi bekleniyor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  <a:tr h="89856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ZX80/HMC936 monopulse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Gelecek entegrasyon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239"/>
                        </a:lnSpc>
                      </a:pPr>
                      <a:r>
                        <a:rPr lang="tr-TR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Kontrol, settling ve açı kalibrasyonu açık</a:t>
                      </a:r>
                      <a:endParaRPr lang="tr-T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4"/>
          <p:cNvSpPr/>
          <p:nvPr/>
        </p:nvSpPr>
        <p:spPr>
          <a:xfrm>
            <a:off x="1028880" y="299520"/>
            <a:ext cx="15744600" cy="9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design-header-3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design-header-3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design-header-3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design-header-3-4"/>
          <p:cNvSpPr/>
          <p:nvPr/>
        </p:nvSpPr>
        <p:spPr>
          <a:xfrm>
            <a:off x="6858000" y="9360"/>
            <a:ext cx="20570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design-header-3-5"/>
          <p:cNvSpPr/>
          <p:nvPr/>
        </p:nvSpPr>
        <p:spPr>
          <a:xfrm>
            <a:off x="8906040" y="9360"/>
            <a:ext cx="25668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design-header-3-6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design-header-3-7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design-header-3-8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design-header-3-9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design-accent-3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design-section-3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01 / BAĞLAM &amp; PLAN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design-footer-bg-3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design-footer-accent-3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design-footer-label-3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design-page-3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03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design-title-3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SONUÇLARIN TEK BAKIŞTA ÖZETİ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B2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"/>
          <p:cNvSpPr/>
          <p:nvPr/>
        </p:nvSpPr>
        <p:spPr>
          <a:xfrm>
            <a:off x="1028880" y="1124640"/>
            <a:ext cx="1659636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Freeform 3"/>
          <p:cNvSpPr/>
          <p:nvPr/>
        </p:nvSpPr>
        <p:spPr>
          <a:xfrm>
            <a:off x="16410240" y="883692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Freeform 5"/>
          <p:cNvSpPr/>
          <p:nvPr/>
        </p:nvSpPr>
        <p:spPr>
          <a:xfrm>
            <a:off x="9738000" y="4679280"/>
            <a:ext cx="3194640" cy="2159640"/>
          </a:xfrm>
          <a:custGeom>
            <a:avLst/>
            <a:gdLst>
              <a:gd name="textAreaLeft" fmla="*/ 0 w 3194640"/>
              <a:gd name="textAreaRight" fmla="*/ 3195000 w 3194640"/>
              <a:gd name="textAreaTop" fmla="*/ 0 h 2159640"/>
              <a:gd name="textAreaBottom" fmla="*/ 2160000 h 2159640"/>
            </a:gdLst>
            <a:ahLst/>
            <a:cxnLst/>
            <a:rect l="textAreaLeft" t="textAreaTop" r="textAreaRight" b="textAreaBottom"/>
            <a:pathLst>
              <a:path w="1202288" h="812800">
                <a:moveTo>
                  <a:pt x="0" y="0"/>
                </a:moveTo>
                <a:lnTo>
                  <a:pt x="1202288" y="0"/>
                </a:lnTo>
                <a:lnTo>
                  <a:pt x="1202288" y="812800"/>
                </a:lnTo>
                <a:lnTo>
                  <a:pt x="0" y="81280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Freeform 7"/>
          <p:cNvSpPr/>
          <p:nvPr/>
        </p:nvSpPr>
        <p:spPr>
          <a:xfrm>
            <a:off x="9738000" y="7371000"/>
            <a:ext cx="3194640" cy="1968480"/>
          </a:xfrm>
          <a:custGeom>
            <a:avLst/>
            <a:gdLst>
              <a:gd name="textAreaLeft" fmla="*/ 0 w 3194640"/>
              <a:gd name="textAreaRight" fmla="*/ 3195000 w 3194640"/>
              <a:gd name="textAreaTop" fmla="*/ 0 h 1968480"/>
              <a:gd name="textAreaBottom" fmla="*/ 1968840 h 1968480"/>
            </a:gdLst>
            <a:ahLst/>
            <a:cxnLst/>
            <a:rect l="textAreaLeft" t="textAreaTop" r="textAreaRight" b="textAreaBottom"/>
            <a:pathLst>
              <a:path w="1318973" h="812800">
                <a:moveTo>
                  <a:pt x="0" y="0"/>
                </a:moveTo>
                <a:lnTo>
                  <a:pt x="1318973" y="0"/>
                </a:lnTo>
                <a:lnTo>
                  <a:pt x="1318973" y="812800"/>
                </a:lnTo>
                <a:lnTo>
                  <a:pt x="0" y="81280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13401360" y="4698360"/>
            <a:ext cx="28857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3078"/>
              </a:lnSpc>
            </a:pPr>
            <a:r>
              <a:rPr lang="tr-TR" sz="2800" b="0" u="none" strike="noStrike">
                <a:solidFill>
                  <a:srgbClr val="931D0A"/>
                </a:solidFill>
                <a:effectLst/>
                <a:uFillTx/>
                <a:latin typeface="Helvetica World"/>
                <a:ea typeface="Helvetica World"/>
              </a:rPr>
              <a:t>AD9364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13401360" y="7401600"/>
            <a:ext cx="28857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3078"/>
              </a:lnSpc>
            </a:pPr>
            <a:r>
              <a:rPr lang="tr-TR" sz="2800" b="0" u="none" strike="noStrike">
                <a:solidFill>
                  <a:srgbClr val="931D0A"/>
                </a:solidFill>
                <a:effectLst/>
                <a:uFillTx/>
                <a:latin typeface="Helvetica World"/>
                <a:ea typeface="Helvetica World"/>
              </a:rPr>
              <a:t>AXU4EVB-P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13401360" y="5166360"/>
            <a:ext cx="3857400" cy="16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00"/>
              </a:lnSpc>
            </a:pPr>
            <a:r>
              <a:rPr lang="tr-TR" sz="20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ANALOG DEVICES FIRMASI TARAFINDAN ÜRETILEN, YÜKSEK PERFORMANSLI VE GENIŞ BANTLI BIR RF Alıcı-Verici (RF Transceiver) entegre devresidir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1"/>
          <p:cNvSpPr/>
          <p:nvPr/>
        </p:nvSpPr>
        <p:spPr>
          <a:xfrm>
            <a:off x="13401360" y="7943040"/>
            <a:ext cx="318852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200"/>
              </a:lnSpc>
            </a:pPr>
            <a:r>
              <a:rPr lang="tr-TR" sz="20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AXU4EVB-P, AMD/Xilinx Zynq UltraScale+ MPSoC mimarisine dayanan bir FPGA geliştirme kartıdır.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2"/>
          <p:cNvSpPr/>
          <p:nvPr/>
        </p:nvSpPr>
        <p:spPr>
          <a:xfrm>
            <a:off x="477720" y="1771560"/>
            <a:ext cx="8966160" cy="75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AD9364 RXA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kompleks I/Q örnekleri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FMC / LVDS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Zynq UltraScale+ PL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2048-point FFT ve spectrum BRAM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Cortex-A53 bare-metal servis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PS_UART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Python spectrum / waterfall / NPZ / CSV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FPGA kartı: ALINX AXU4EVB-P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RF kartı: mevcut AD9364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Geliştirme bağlantıları: JTAG ve PS_UART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340"/>
              </a:lnSpc>
            </a:pPr>
            <a:r>
              <a:rPr lang="tr-TR" sz="31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Kontrollü RF kaynağı: Rohde &amp; Schwarz SMW200A</a:t>
            </a:r>
            <a:endParaRPr lang="tr-T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design-header-4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design-header-4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design-header-4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design-header-4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design-header-4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design-header-4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design-header-4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design-header-4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design-accent-4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design-section-4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01 / BAĞLAM &amp; PLAN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design-footer-bg-4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design-footer-accent-4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design-footer-label-4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design-page-4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04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design-title-4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DONANIM SİSTEMİ VE FİZİKSEL VERİ YOLU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1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Freeform 2"/>
          <p:cNvSpPr/>
          <p:nvPr/>
        </p:nvSpPr>
        <p:spPr>
          <a:xfrm>
            <a:off x="16410240" y="363276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Freeform 3"/>
          <p:cNvSpPr/>
          <p:nvPr/>
        </p:nvSpPr>
        <p:spPr>
          <a:xfrm>
            <a:off x="10031760" y="3632760"/>
            <a:ext cx="6093360" cy="5227560"/>
          </a:xfrm>
          <a:custGeom>
            <a:avLst/>
            <a:gdLst>
              <a:gd name="textAreaLeft" fmla="*/ 0 w 6093360"/>
              <a:gd name="textAreaRight" fmla="*/ 6093720 w 6093360"/>
              <a:gd name="textAreaTop" fmla="*/ 0 h 5227560"/>
              <a:gd name="textAreaBottom" fmla="*/ 5227920 h 5227560"/>
            </a:gdLst>
            <a:ahLst/>
            <a:cxnLst/>
            <a:rect l="textAreaLeft" t="textAreaTop" r="textAreaRight" b="textAreaBottom"/>
            <a:pathLst>
              <a:path w="6093795" h="5227891">
                <a:moveTo>
                  <a:pt x="0" y="0"/>
                </a:moveTo>
                <a:lnTo>
                  <a:pt x="6093794" y="0"/>
                </a:lnTo>
                <a:lnTo>
                  <a:pt x="6093794" y="5227891"/>
                </a:lnTo>
                <a:lnTo>
                  <a:pt x="0" y="52278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1028880" y="714960"/>
            <a:ext cx="16459200" cy="28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1028880" y="2714760"/>
            <a:ext cx="8714880" cy="69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968"/>
              </a:lnSpc>
            </a:pPr>
            <a:r>
              <a:rPr lang="tr-TR" sz="270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- AD9364 TEK GERÇEK RX ZINCIRINE SAHIP 1×1 RF TRANSCEIVER’DIR.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968"/>
              </a:lnSpc>
            </a:pPr>
            <a:r>
              <a:rPr lang="tr-TR" sz="270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- RXA/RXB/RXC seçilebilir fakat iki bağımsız RX aynı anda örneklenemez.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968"/>
              </a:lnSpc>
            </a:pPr>
            <a:r>
              <a:rPr lang="tr-TR" sz="270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- İki antenin eşzamanlı dijital faz farkını AD9364 içinde ölçme iddiası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968"/>
              </a:lnSpc>
            </a:pPr>
            <a:r>
              <a:rPr lang="tr-TR" sz="270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  yapılmamıştır.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968"/>
              </a:lnSpc>
            </a:pPr>
            <a:r>
              <a:rPr lang="tr-TR" sz="270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- Harici analog ağ, `Σ ± ΔAZ` ve `Σ ± ΔEL` durumlarını ardışık olarak üretir.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968"/>
              </a:lnSpc>
            </a:pPr>
            <a:r>
              <a:rPr lang="tr-TR" sz="270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- Tek ortak FFT donanımı dört finite-frame üzerinde tekrar kullanılır.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30"/>
              </a:lnSpc>
            </a:pP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30"/>
              </a:lnSpc>
            </a:pPr>
            <a:r>
              <a:rPr lang="tr-TR" sz="2480" b="1" u="none" strike="noStrike">
                <a:solidFill>
                  <a:srgbClr val="E2E1E7"/>
                </a:solidFill>
                <a:effectLst/>
                <a:uFillTx/>
                <a:latin typeface="Helvetica World Bold"/>
                <a:ea typeface="Helvetica World Bold"/>
              </a:rPr>
              <a:t>DURUM DENKLEMLERI:</a:t>
            </a:r>
            <a:endParaRPr lang="tr-TR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30"/>
              </a:lnSpc>
            </a:pPr>
            <a:endParaRPr lang="tr-TR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30"/>
              </a:lnSpc>
            </a:pPr>
            <a:r>
              <a:rPr lang="tr-TR" sz="248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S0 = Σ + ΔAZ</a:t>
            </a:r>
            <a:endParaRPr lang="tr-TR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30"/>
              </a:lnSpc>
            </a:pPr>
            <a:r>
              <a:rPr lang="tr-TR" sz="248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S1 = Σ - ΔAZ</a:t>
            </a:r>
            <a:endParaRPr lang="tr-TR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30"/>
              </a:lnSpc>
            </a:pPr>
            <a:r>
              <a:rPr lang="tr-TR" sz="248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S2 = Σ + ΔEL</a:t>
            </a:r>
            <a:endParaRPr lang="tr-TR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30"/>
              </a:lnSpc>
              <a:tabLst>
                <a:tab pos="0" algn="l"/>
              </a:tabLst>
            </a:pPr>
            <a:r>
              <a:rPr lang="tr-TR" sz="2480" b="0" u="none" strike="noStrike">
                <a:solidFill>
                  <a:srgbClr val="E2E1E7"/>
                </a:solidFill>
                <a:effectLst/>
                <a:uFillTx/>
                <a:latin typeface="Helvetica World"/>
                <a:ea typeface="Helvetica World"/>
              </a:rPr>
              <a:t>S3 = Σ - ΔEL</a:t>
            </a:r>
            <a:endParaRPr lang="tr-TR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design-header-5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design-header-5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design-header-5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design-header-5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design-header-5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design-header-5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design-header-5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design-header-5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design-accent-5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design-section-5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01 / BAĞLAM &amp; PLAN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design-footer-bg-5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design-footer-accent-5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design-footer-label-5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design-page-5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05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design-title-5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AD9364 KISITI VE MİMARİ KARAR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B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Freeform 2"/>
          <p:cNvSpPr/>
          <p:nvPr/>
        </p:nvSpPr>
        <p:spPr>
          <a:xfrm>
            <a:off x="1028880" y="140976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10365120" y="1079280"/>
            <a:ext cx="7562520" cy="18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3831120" y="4704840"/>
            <a:ext cx="10388880" cy="48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spAutoFit/>
          </a:bodyPr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1. Kart, PS/PL, DDR ve AD9364 bring-up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2. Gerçek RF aktivitesinin DMA üzerinden görülmesi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3. Monopulse matematik ve fixed-point referans modeli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4. 2048 noktalı PL FFT, magnitude-square ve peak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5. Tek-frame ve 100-frame kart kabulü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6. CRC’li tam spektrum protokolü ve Python görünümü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7. Kontrollü CW peak-bin kabulü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2800" b="0" u="none" strike="noStrike">
                <a:solidFill>
                  <a:srgbClr val="2026B6"/>
                </a:solidFill>
                <a:effectLst/>
                <a:uFillTx/>
                <a:latin typeface="Helvetica World"/>
                <a:ea typeface="Helvetica World"/>
              </a:rPr>
              <a:t>8. ZX80/HMC936 kontrolü, S0–S3 ve açı kalibrasyonu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design-header-6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design-header-6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design-header-6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design-header-6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design-header-6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design-header-6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design-header-6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design-header-6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design-accent-6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design-section-6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01 / BAĞLAM &amp; PLAN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design-footer-bg-6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design-footer-accent-6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design-footer-label-6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design-page-6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06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design-title-6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PROJE GEREKSİNİMLERİ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"/>
          <p:cNvPicPr/>
          <p:nvPr/>
        </p:nvPicPr>
        <p:blipFill>
          <a:blip r:embed="rId3"/>
          <a:stretch/>
        </p:blipFill>
        <p:spPr>
          <a:xfrm>
            <a:off x="911520" y="2150640"/>
            <a:ext cx="16464600" cy="239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eeform 2"/>
          <p:cNvSpPr/>
          <p:nvPr/>
        </p:nvSpPr>
        <p:spPr>
          <a:xfrm>
            <a:off x="1028880" y="138096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Freeform 3"/>
          <p:cNvSpPr/>
          <p:nvPr/>
        </p:nvSpPr>
        <p:spPr>
          <a:xfrm>
            <a:off x="7920000" y="4500000"/>
            <a:ext cx="9900000" cy="1440000"/>
          </a:xfrm>
          <a:custGeom>
            <a:avLst/>
            <a:gdLst>
              <a:gd name="textAreaLeft" fmla="*/ 0 w 9900000"/>
              <a:gd name="textAreaRight" fmla="*/ 9900360 w 9900000"/>
              <a:gd name="textAreaTop" fmla="*/ 0 h 1440000"/>
              <a:gd name="textAreaBottom" fmla="*/ 1440360 h 1440000"/>
            </a:gdLst>
            <a:ahLst/>
            <a:cxnLst/>
            <a:rect l="textAreaLeft" t="textAreaTop" r="textAreaRight" b="textAreaBottom"/>
            <a:pathLst>
              <a:path w="12729807" h="1141357">
                <a:moveTo>
                  <a:pt x="0" y="0"/>
                </a:moveTo>
                <a:lnTo>
                  <a:pt x="12729807" y="0"/>
                </a:lnTo>
                <a:lnTo>
                  <a:pt x="12729807" y="1141357"/>
                </a:lnTo>
                <a:lnTo>
                  <a:pt x="0" y="11413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9672480" y="3837960"/>
            <a:ext cx="7586280" cy="27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1028880" y="2529360"/>
            <a:ext cx="7586280" cy="67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479"/>
              </a:lnSpc>
            </a:pPr>
            <a:r>
              <a:rPr lang="tr-TR" sz="32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- Golden: kartta doğrulanmış geri dönüş noktası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479"/>
              </a:lnSpc>
            </a:pPr>
            <a:r>
              <a:rPr lang="tr-TR" sz="32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- Candidate: yeni bitstream/ELF’in ayrı ve değişmez paketi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479"/>
              </a:lnSpc>
            </a:pPr>
            <a:r>
              <a:rPr lang="tr-TR" sz="32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- Kaynak, XSA, bitstream ve ELF için SHA-256 yöntemi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479"/>
              </a:lnSpc>
            </a:pPr>
            <a:r>
              <a:rPr lang="tr-TR" sz="32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- Otomatik JTAG launcher ve DDR yaz/oku kapısı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479"/>
              </a:lnSpc>
            </a:pPr>
            <a:r>
              <a:rPr lang="tr-TR" sz="32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- C/Python referans testleri, RTL testleri ve fiziksel UART/JTAG kanıtları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479"/>
              </a:lnSpc>
            </a:pPr>
            <a:r>
              <a:rPr lang="tr-TR" sz="3200" b="0" u="none" strike="noStrike">
                <a:solidFill>
                  <a:srgbClr val="022033"/>
                </a:solidFill>
                <a:effectLst/>
                <a:uFillTx/>
                <a:latin typeface="Helvetica World"/>
                <a:ea typeface="Helvetica World"/>
              </a:rPr>
              <a:t>- Ayrı Git worktree ve kontrollü branch akışı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design-header-7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design-header-7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design-header-7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design-header-7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design-header-7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design-header-7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design-header-7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design-header-7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design-accent-7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design-section-7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01 / BAĞLAM &amp; PLAN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design-footer-bg-7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design-footer-accent-7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design-footer-label-7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design-page-7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D92D38"/>
                </a:solidFill>
                <a:effectLst/>
                <a:uFillTx/>
                <a:latin typeface="Open Sauce Bold"/>
                <a:ea typeface="Open Sauce Bold"/>
              </a:rPr>
              <a:t>07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design-title-7"/>
          <p:cNvSpPr/>
          <p:nvPr/>
        </p:nvSpPr>
        <p:spPr>
          <a:xfrm>
            <a:off x="876240" y="152280"/>
            <a:ext cx="13239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338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GELİŞTİRME VE TEKRAR ÜRETİLEBİLİRLİK YÖNTEMİ</a:t>
            </a:r>
            <a:endParaRPr lang="tr-TR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4D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Freeform 2"/>
          <p:cNvSpPr/>
          <p:nvPr/>
        </p:nvSpPr>
        <p:spPr>
          <a:xfrm>
            <a:off x="15480000" y="162000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30"/>
                </a:lnTo>
                <a:lnTo>
                  <a:pt x="0" y="4215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Freeform 3"/>
          <p:cNvSpPr/>
          <p:nvPr/>
        </p:nvSpPr>
        <p:spPr>
          <a:xfrm>
            <a:off x="2880000" y="4140000"/>
            <a:ext cx="13068000" cy="5695560"/>
          </a:xfrm>
          <a:custGeom>
            <a:avLst/>
            <a:gdLst>
              <a:gd name="textAreaLeft" fmla="*/ 0 w 13068000"/>
              <a:gd name="textAreaRight" fmla="*/ 13068360 w 13068000"/>
              <a:gd name="textAreaTop" fmla="*/ 0 h 5695560"/>
              <a:gd name="textAreaBottom" fmla="*/ 5695920 h 5695560"/>
            </a:gdLst>
            <a:ahLst/>
            <a:cxnLst/>
            <a:rect l="textAreaLeft" t="textAreaTop" r="textAreaRight" b="textAreaBottom"/>
            <a:pathLst>
              <a:path w="13084230" h="5740706">
                <a:moveTo>
                  <a:pt x="0" y="0"/>
                </a:moveTo>
                <a:lnTo>
                  <a:pt x="13084230" y="0"/>
                </a:lnTo>
                <a:lnTo>
                  <a:pt x="13084230" y="5740706"/>
                </a:lnTo>
                <a:lnTo>
                  <a:pt x="0" y="57407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"/>
          <p:cNvSpPr/>
          <p:nvPr/>
        </p:nvSpPr>
        <p:spPr>
          <a:xfrm>
            <a:off x="726120" y="559080"/>
            <a:ext cx="7692480" cy="40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758880" y="1483920"/>
            <a:ext cx="1040112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3960"/>
              </a:lnSpc>
            </a:pPr>
            <a:r>
              <a:rPr lang="tr-TR" sz="2700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Zynq UltraScale+ processing system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0"/>
              </a:lnSpc>
            </a:pPr>
            <a:r>
              <a:rPr lang="tr-TR" sz="2700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AD9364 LVDS ve ADC/DAC veri yolları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0"/>
              </a:lnSpc>
            </a:pPr>
            <a:r>
              <a:rPr lang="tr-TR" sz="2700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AXI ADC/DDS ve DMA altyapısı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0"/>
              </a:lnSpc>
            </a:pPr>
            <a:r>
              <a:rPr lang="tr-TR" sz="2700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Cortex-A53 bare-metal kontrol alanı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0"/>
              </a:lnSpc>
            </a:pPr>
            <a:r>
              <a:rPr lang="tr-TR" sz="2700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- FFT: ADC akışında paralel gözlem</a:t>
            </a:r>
            <a:r>
              <a:rPr lang="tr-TR" sz="2700" b="0" u="none" strike="noStrike">
                <a:solidFill>
                  <a:srgbClr val="474C55"/>
                </a:solidFill>
                <a:effectLst/>
                <a:uFillTx/>
                <a:latin typeface="Open Sauce"/>
                <a:ea typeface="Open Sauce"/>
              </a:rPr>
              <a:t> kolu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design-header-8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design-header-8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design-header-8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design-header-8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design-header-8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design-header-8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design-header-8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design-header-8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design-accent-8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design-section-8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02 / VIVADO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design-footer-bg-8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design-footer-accent-8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design-footer-label-8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design-page-8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08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design-title-8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VIVADO VE DONANIM TASARIMI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4D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Freeform 2"/>
          <p:cNvSpPr/>
          <p:nvPr/>
        </p:nvSpPr>
        <p:spPr>
          <a:xfrm>
            <a:off x="540000" y="1619280"/>
            <a:ext cx="17280000" cy="7740720"/>
          </a:xfrm>
          <a:custGeom>
            <a:avLst/>
            <a:gdLst>
              <a:gd name="textAreaLeft" fmla="*/ 0 w 17280000"/>
              <a:gd name="textAreaRight" fmla="*/ 17280360 w 17280000"/>
              <a:gd name="textAreaTop" fmla="*/ 0 h 7740720"/>
              <a:gd name="textAreaBottom" fmla="*/ 7741080 h 7740720"/>
            </a:gdLst>
            <a:ahLst/>
            <a:cxnLst/>
            <a:rect l="textAreaLeft" t="textAreaTop" r="textAreaRight" b="textAreaBottom"/>
            <a:pathLst>
              <a:path w="17697448" h="7764755">
                <a:moveTo>
                  <a:pt x="0" y="0"/>
                </a:moveTo>
                <a:lnTo>
                  <a:pt x="17697448" y="0"/>
                </a:lnTo>
                <a:lnTo>
                  <a:pt x="17697448" y="7764756"/>
                </a:lnTo>
                <a:lnTo>
                  <a:pt x="0" y="77647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design-header-9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design-header-9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design-header-9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design-header-9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design-header-9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design-header-9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design-header-9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design-header-9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design-accent-9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design-section-9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02 / VIVADO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design-footer-bg-9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design-footer-accent-9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design-footer-label-9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design-page-9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09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design-title-9"/>
          <p:cNvSpPr/>
          <p:nvPr/>
        </p:nvSpPr>
        <p:spPr>
          <a:xfrm>
            <a:off x="876240" y="171360"/>
            <a:ext cx="1314432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353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FFT, ANA RX AKIŞINA PARALEL BİR GÖZLEM KOLU OLARAK EKLENDİ</a:t>
            </a:r>
            <a:endParaRPr lang="tr-TR" sz="3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evidence-frame-9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38100">
            <a:solidFill>
              <a:srgbClr val="2F80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Freeform 2"/>
          <p:cNvSpPr/>
          <p:nvPr/>
        </p:nvSpPr>
        <p:spPr>
          <a:xfrm>
            <a:off x="1028880" y="925848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AutoShape 3"/>
          <p:cNvSpPr/>
          <p:nvPr/>
        </p:nvSpPr>
        <p:spPr>
          <a:xfrm>
            <a:off x="1123560" y="5478480"/>
            <a:ext cx="984600" cy="360"/>
          </a:xfrm>
          <a:prstGeom prst="line">
            <a:avLst/>
          </a:prstGeom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Freeform 4"/>
          <p:cNvSpPr/>
          <p:nvPr/>
        </p:nvSpPr>
        <p:spPr>
          <a:xfrm>
            <a:off x="832320" y="2409840"/>
            <a:ext cx="6320520" cy="4203000"/>
          </a:xfrm>
          <a:custGeom>
            <a:avLst/>
            <a:gdLst>
              <a:gd name="textAreaLeft" fmla="*/ 0 w 6320520"/>
              <a:gd name="textAreaRight" fmla="*/ 6320880 w 6320520"/>
              <a:gd name="textAreaTop" fmla="*/ 0 h 4203000"/>
              <a:gd name="textAreaBottom" fmla="*/ 4203360 h 4203000"/>
            </a:gdLst>
            <a:ahLst/>
            <a:cxnLst/>
            <a:rect l="textAreaLeft" t="textAreaTop" r="textAreaRight" b="textAreaBottom"/>
            <a:pathLst>
              <a:path w="6320732" h="4203519">
                <a:moveTo>
                  <a:pt x="0" y="0"/>
                </a:moveTo>
                <a:lnTo>
                  <a:pt x="6320732" y="0"/>
                </a:lnTo>
                <a:lnTo>
                  <a:pt x="6320732" y="4203518"/>
                </a:lnTo>
                <a:lnTo>
                  <a:pt x="0" y="42035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Freeform 6"/>
          <p:cNvSpPr/>
          <p:nvPr/>
        </p:nvSpPr>
        <p:spPr>
          <a:xfrm>
            <a:off x="7696080" y="2676960"/>
            <a:ext cx="4725360" cy="3535560"/>
          </a:xfrm>
          <a:custGeom>
            <a:avLst/>
            <a:gdLst>
              <a:gd name="textAreaLeft" fmla="*/ 0 w 4725360"/>
              <a:gd name="textAreaRight" fmla="*/ 4725720 w 4725360"/>
              <a:gd name="textAreaTop" fmla="*/ 0 h 3535560"/>
              <a:gd name="textAreaBottom" fmla="*/ 3535920 h 3535560"/>
            </a:gdLst>
            <a:ahLst/>
            <a:cxnLst/>
            <a:rect l="textAreaLeft" t="textAreaTop" r="textAreaRight" b="textAreaBottom"/>
            <a:pathLst>
              <a:path w="1244612" h="931258">
                <a:moveTo>
                  <a:pt x="83552" y="0"/>
                </a:moveTo>
                <a:lnTo>
                  <a:pt x="1161060" y="0"/>
                </a:lnTo>
                <a:cubicBezTo>
                  <a:pt x="1183219" y="0"/>
                  <a:pt x="1204471" y="8803"/>
                  <a:pt x="1220140" y="24472"/>
                </a:cubicBezTo>
                <a:cubicBezTo>
                  <a:pt x="1235809" y="40141"/>
                  <a:pt x="1244612" y="61393"/>
                  <a:pt x="1244612" y="83552"/>
                </a:cubicBezTo>
                <a:lnTo>
                  <a:pt x="1244612" y="847705"/>
                </a:lnTo>
                <a:cubicBezTo>
                  <a:pt x="1244612" y="869865"/>
                  <a:pt x="1235809" y="891117"/>
                  <a:pt x="1220140" y="906786"/>
                </a:cubicBezTo>
                <a:cubicBezTo>
                  <a:pt x="1204471" y="922455"/>
                  <a:pt x="1183219" y="931258"/>
                  <a:pt x="1161060" y="931258"/>
                </a:cubicBezTo>
                <a:lnTo>
                  <a:pt x="83552" y="931258"/>
                </a:lnTo>
                <a:cubicBezTo>
                  <a:pt x="61393" y="931258"/>
                  <a:pt x="40141" y="922455"/>
                  <a:pt x="24472" y="906786"/>
                </a:cubicBezTo>
                <a:cubicBezTo>
                  <a:pt x="8803" y="891117"/>
                  <a:pt x="0" y="869865"/>
                  <a:pt x="0" y="847705"/>
                </a:cubicBezTo>
                <a:lnTo>
                  <a:pt x="0" y="83552"/>
                </a:lnTo>
                <a:cubicBezTo>
                  <a:pt x="0" y="61393"/>
                  <a:pt x="8803" y="40141"/>
                  <a:pt x="24472" y="24472"/>
                </a:cubicBezTo>
                <a:cubicBezTo>
                  <a:pt x="40141" y="8803"/>
                  <a:pt x="61393" y="0"/>
                  <a:pt x="83552" y="0"/>
                </a:cubicBezTo>
                <a:close/>
              </a:path>
            </a:pathLst>
          </a:custGeom>
          <a:solidFill>
            <a:srgbClr val="FDB0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7696080" y="2749320"/>
            <a:ext cx="4725360" cy="34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8"/>
          <p:cNvSpPr/>
          <p:nvPr/>
        </p:nvSpPr>
        <p:spPr>
          <a:xfrm>
            <a:off x="7987320" y="2903400"/>
            <a:ext cx="4225680" cy="31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2798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# RX_FRAME (LA01_CC)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98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set_property -dict {PACKAGE_PIN L7 IOSTANDARD LVDS DIFF_TERM_ADV TERM_100} [get_ports rx_frame_in_p]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798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set_property -dict {PACKAGE_PIN L6 IOSTANDARD LVDS DIFF_TERM_ADV TERM_100} [get_ports rx_frame_in_n]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Freeform 10"/>
          <p:cNvSpPr/>
          <p:nvPr/>
        </p:nvSpPr>
        <p:spPr>
          <a:xfrm>
            <a:off x="12964680" y="3616200"/>
            <a:ext cx="5196960" cy="1557000"/>
          </a:xfrm>
          <a:custGeom>
            <a:avLst/>
            <a:gdLst>
              <a:gd name="textAreaLeft" fmla="*/ 0 w 5196960"/>
              <a:gd name="textAreaRight" fmla="*/ 5197320 w 5196960"/>
              <a:gd name="textAreaTop" fmla="*/ 0 h 1557000"/>
              <a:gd name="textAreaBottom" fmla="*/ 1557360 h 1557000"/>
            </a:gdLst>
            <a:ahLst/>
            <a:cxnLst/>
            <a:rect l="textAreaLeft" t="textAreaTop" r="textAreaRight" b="textAreaBottom"/>
            <a:pathLst>
              <a:path w="1368831" h="410172">
                <a:moveTo>
                  <a:pt x="75970" y="0"/>
                </a:moveTo>
                <a:lnTo>
                  <a:pt x="1292860" y="0"/>
                </a:lnTo>
                <a:cubicBezTo>
                  <a:pt x="1313009" y="0"/>
                  <a:pt x="1332332" y="8004"/>
                  <a:pt x="1346579" y="22251"/>
                </a:cubicBezTo>
                <a:cubicBezTo>
                  <a:pt x="1360827" y="36498"/>
                  <a:pt x="1368831" y="55822"/>
                  <a:pt x="1368831" y="75970"/>
                </a:cubicBezTo>
                <a:lnTo>
                  <a:pt x="1368831" y="334202"/>
                </a:lnTo>
                <a:cubicBezTo>
                  <a:pt x="1368831" y="376159"/>
                  <a:pt x="1334818" y="410172"/>
                  <a:pt x="1292860" y="410172"/>
                </a:cubicBezTo>
                <a:lnTo>
                  <a:pt x="75970" y="410172"/>
                </a:lnTo>
                <a:cubicBezTo>
                  <a:pt x="34013" y="410172"/>
                  <a:pt x="0" y="376159"/>
                  <a:pt x="0" y="334202"/>
                </a:cubicBezTo>
                <a:lnTo>
                  <a:pt x="0" y="75970"/>
                </a:lnTo>
                <a:cubicBezTo>
                  <a:pt x="0" y="34013"/>
                  <a:pt x="34013" y="0"/>
                  <a:pt x="75970" y="0"/>
                </a:cubicBezTo>
                <a:close/>
              </a:path>
            </a:pathLst>
          </a:custGeom>
          <a:solidFill>
            <a:srgbClr val="FDB0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12964680" y="3688560"/>
            <a:ext cx="519696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5364000" y="677520"/>
            <a:ext cx="1200852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3"/>
          <p:cNvSpPr/>
          <p:nvPr/>
        </p:nvSpPr>
        <p:spPr>
          <a:xfrm>
            <a:off x="12756240" y="3762000"/>
            <a:ext cx="55314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  input           rx_frame_in_p,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  input           rx_frame_in_n,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3399480" y="6663960"/>
            <a:ext cx="118656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5040"/>
              </a:lnSpc>
            </a:pPr>
            <a:r>
              <a:rPr lang="tr-TR" sz="3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Şema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9577800" y="6663960"/>
            <a:ext cx="96192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5040"/>
              </a:lnSpc>
            </a:pPr>
            <a:r>
              <a:rPr lang="tr-TR" sz="3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XDC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6"/>
          <p:cNvSpPr/>
          <p:nvPr/>
        </p:nvSpPr>
        <p:spPr>
          <a:xfrm>
            <a:off x="14074560" y="6663960"/>
            <a:ext cx="297720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5040"/>
              </a:lnSpc>
            </a:pPr>
            <a:r>
              <a:rPr lang="tr-TR" sz="3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Top-Level HDL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AutoShape 17"/>
          <p:cNvSpPr/>
          <p:nvPr/>
        </p:nvSpPr>
        <p:spPr>
          <a:xfrm>
            <a:off x="7153200" y="4511160"/>
            <a:ext cx="542880" cy="360"/>
          </a:xfrm>
          <a:prstGeom prst="line">
            <a:avLst/>
          </a:prstGeom>
          <a:ln w="38100">
            <a:solidFill>
              <a:srgbClr val="474C55"/>
            </a:solidFill>
            <a:round/>
            <a:tailEnd len="sm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AutoShape 18"/>
          <p:cNvSpPr/>
          <p:nvPr/>
        </p:nvSpPr>
        <p:spPr>
          <a:xfrm>
            <a:off x="12453840" y="4531680"/>
            <a:ext cx="510840" cy="360"/>
          </a:xfrm>
          <a:prstGeom prst="line">
            <a:avLst/>
          </a:prstGeom>
          <a:ln w="38100">
            <a:solidFill>
              <a:srgbClr val="474C55"/>
            </a:solidFill>
            <a:round/>
            <a:tailEnd len="sm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9"/>
          <p:cNvSpPr/>
          <p:nvPr/>
        </p:nvSpPr>
        <p:spPr>
          <a:xfrm>
            <a:off x="3876840" y="7334280"/>
            <a:ext cx="12372480" cy="24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3781"/>
              </a:lnSpc>
            </a:pPr>
            <a:r>
              <a:rPr lang="tr-TR" sz="27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AXU4EVB-P ve AD9364 şemaları aktif kaynaklarla karşılaştırıldı.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781"/>
              </a:lnSpc>
            </a:pPr>
            <a:r>
              <a:rPr lang="tr-TR" sz="27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RX frame ve feedback clock eşlemeleri doğrulandı.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781"/>
              </a:lnSpc>
            </a:pPr>
            <a:r>
              <a:rPr lang="tr-TR" sz="27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On altı RX LVDS portunda uygun `DIFF_TERM_ADV TERM_100` ayarı kullanıldı.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781"/>
              </a:lnSpc>
            </a:pPr>
            <a:r>
              <a:rPr lang="tr-TR" sz="27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SPI chip-select pull-up ve I/O standardları kontrol edildi.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781"/>
              </a:lnSpc>
            </a:pPr>
            <a:r>
              <a:rPr lang="tr-TR" sz="27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RX clock constraint ve top-level port sözleşmesi tek kaynağa bağlandı.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design-header-10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design-header-10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design-header-10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design-header-10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design-header-10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design-header-10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design-header-10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design-header-10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design-accent-10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design-section-10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02 / VIVADO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design-footer-bg-10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design-footer-accent-10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design-footer-label-10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design-page-10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10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design-title-10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ŞEMA TEYİDİ, PİNLER VE XDC DÜZELTMELERİ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Freeform 2"/>
          <p:cNvSpPr/>
          <p:nvPr/>
        </p:nvSpPr>
        <p:spPr>
          <a:xfrm>
            <a:off x="16410240" y="1409760"/>
            <a:ext cx="848880" cy="421200"/>
          </a:xfrm>
          <a:custGeom>
            <a:avLst/>
            <a:gdLst>
              <a:gd name="textAreaLeft" fmla="*/ 0 w 848880"/>
              <a:gd name="textAreaRight" fmla="*/ 849240 w 848880"/>
              <a:gd name="textAreaTop" fmla="*/ 0 h 421200"/>
              <a:gd name="textAreaBottom" fmla="*/ 421560 h 421200"/>
            </a:gdLst>
            <a:ahLst/>
            <a:cxnLst/>
            <a:rect l="textAreaLeft" t="textAreaTop" r="textAreaRight" b="textAreaBottom"/>
            <a:pathLst>
              <a:path w="849235" h="421529">
                <a:moveTo>
                  <a:pt x="0" y="0"/>
                </a:moveTo>
                <a:lnTo>
                  <a:pt x="849235" y="0"/>
                </a:lnTo>
                <a:lnTo>
                  <a:pt x="849235" y="421529"/>
                </a:lnTo>
                <a:lnTo>
                  <a:pt x="0" y="4215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6" name="Table 3"/>
          <p:cNvGraphicFramePr/>
          <p:nvPr/>
        </p:nvGraphicFramePr>
        <p:xfrm>
          <a:off x="1028880" y="2170800"/>
          <a:ext cx="5734800" cy="7477560"/>
        </p:xfrm>
        <a:graphic>
          <a:graphicData uri="http://schemas.openxmlformats.org/drawingml/2006/table">
            <a:tbl>
              <a:tblPr/>
              <a:tblGrid>
                <a:gridCol w="2576520"/>
                <a:gridCol w="3158280"/>
              </a:tblGrid>
              <a:tr h="11023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 Bold"/>
                          <a:ea typeface="Helvetica World Bold"/>
                        </a:rPr>
                        <a:t>Kontrol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F49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 Bold"/>
                          <a:ea typeface="Helvetica World Bold"/>
                        </a:rPr>
                        <a:t>Sonuç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F49"/>
                    </a:solidFill>
                  </a:tcPr>
                </a:tc>
              </a:tr>
              <a:tr h="108036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FPGA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67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 xczu4ev-sfvc784-1-i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92"/>
                    </a:solidFill>
                  </a:tcPr>
                </a:tc>
              </a:tr>
              <a:tr h="110628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Setup WNS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67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+0.144 ns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92"/>
                    </a:solidFill>
                  </a:tcPr>
                </a:tc>
              </a:tr>
              <a:tr h="110628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Setup TNS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67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0.000 ns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92"/>
                    </a:solidFill>
                  </a:tcPr>
                </a:tc>
              </a:tr>
              <a:tr h="110628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DRC error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67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0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92"/>
                    </a:solidFill>
                  </a:tcPr>
                </a:tc>
              </a:tr>
              <a:tr h="19753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Çıktı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F67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3078"/>
                        </a:lnSpc>
                      </a:pPr>
                      <a:r>
                        <a:rPr lang="tr-TR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Bitstream ve aynı implementasyondan XSA</a:t>
                      </a:r>
                      <a:endParaRPr lang="tr-TR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F92"/>
                    </a:solidFill>
                  </a:tcPr>
                </a:tc>
              </a:tr>
            </a:tbl>
          </a:graphicData>
        </a:graphic>
      </p:graphicFrame>
      <p:sp>
        <p:nvSpPr>
          <p:cNvPr id="267" name="Freeform 4"/>
          <p:cNvSpPr/>
          <p:nvPr/>
        </p:nvSpPr>
        <p:spPr>
          <a:xfrm>
            <a:off x="7598520" y="2170800"/>
            <a:ext cx="9660240" cy="2301480"/>
          </a:xfrm>
          <a:custGeom>
            <a:avLst/>
            <a:gdLst>
              <a:gd name="textAreaLeft" fmla="*/ 0 w 9660240"/>
              <a:gd name="textAreaRight" fmla="*/ 9660600 w 9660240"/>
              <a:gd name="textAreaTop" fmla="*/ 0 h 2301480"/>
              <a:gd name="textAreaBottom" fmla="*/ 2301840 h 2301480"/>
            </a:gdLst>
            <a:ahLst/>
            <a:cxnLst/>
            <a:rect l="textAreaLeft" t="textAreaTop" r="textAreaRight" b="textAreaBottom"/>
            <a:pathLst>
              <a:path w="9660774" h="2301728">
                <a:moveTo>
                  <a:pt x="0" y="0"/>
                </a:moveTo>
                <a:lnTo>
                  <a:pt x="9660774" y="0"/>
                </a:lnTo>
                <a:lnTo>
                  <a:pt x="9660774" y="2301728"/>
                </a:lnTo>
                <a:lnTo>
                  <a:pt x="0" y="23017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1028880" y="1069560"/>
            <a:ext cx="15085080" cy="97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6"/>
          <p:cNvSpPr/>
          <p:nvPr/>
        </p:nvSpPr>
        <p:spPr>
          <a:xfrm>
            <a:off x="9320040" y="5650200"/>
            <a:ext cx="6217200" cy="29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931D0A"/>
                </a:solidFill>
                <a:effectLst/>
                <a:uFillTx/>
                <a:latin typeface="Helvetica World"/>
                <a:ea typeface="Helvetica World"/>
              </a:rPr>
              <a:t>- Güncel bitstream XSA içine alınarak Vitis donanım devri yenilendi.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931D0A"/>
                </a:solidFill>
                <a:effectLst/>
                <a:uFillTx/>
                <a:latin typeface="Helvetica World"/>
                <a:ea typeface="Helvetica World"/>
              </a:rPr>
              <a:t>- Eski wrapper/XSA seçme riski artifact kapılarıyla azaltıldı.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design-header-11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design-header-11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design-header-11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design-header-11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design-header-11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design-header-11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design-header-11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design-header-11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design-accent-11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design-section-11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02 / VIVADO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design-footer-bg-11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design-footer-accent-11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design-footer-label-11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design-page-11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11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design-title-11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SENTEZ, ZAMANLAMA VE DRC KAPANIŞI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Freeform 2"/>
          <p:cNvSpPr/>
          <p:nvPr/>
        </p:nvSpPr>
        <p:spPr>
          <a:xfrm>
            <a:off x="1143000" y="1333440"/>
            <a:ext cx="16001640" cy="8610120"/>
          </a:xfrm>
          <a:custGeom>
            <a:avLst/>
            <a:gdLst>
              <a:gd name="textAreaLeft" fmla="*/ 0 w 16001640"/>
              <a:gd name="textAreaRight" fmla="*/ 16002000 w 16001640"/>
              <a:gd name="textAreaTop" fmla="*/ 0 h 8610120"/>
              <a:gd name="textAreaBottom" fmla="*/ 8610480 h 8610120"/>
            </a:gdLst>
            <a:ahLst/>
            <a:cxnLst/>
            <a:rect l="textAreaLeft" t="textAreaTop" r="textAreaRight" b="textAreaBottom"/>
            <a:pathLst>
              <a:path w="17198933" h="9260745">
                <a:moveTo>
                  <a:pt x="0" y="0"/>
                </a:moveTo>
                <a:lnTo>
                  <a:pt x="17198934" y="0"/>
                </a:lnTo>
                <a:lnTo>
                  <a:pt x="17198934" y="9260744"/>
                </a:lnTo>
                <a:lnTo>
                  <a:pt x="0" y="926074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design-header-12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design-header-12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design-header-12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design-header-12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design-header-12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design-header-12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design-header-12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design-header-12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design-accent-12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design-section-12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02 / VIVADO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design-footer-bg-12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design-footer-accent-12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design-footer-label-12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design-page-12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F80ED"/>
                </a:solidFill>
                <a:effectLst/>
                <a:uFillTx/>
                <a:latin typeface="Open Sauce Bold"/>
                <a:ea typeface="Open Sauce Bold"/>
              </a:rPr>
              <a:t>12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design-title-12"/>
          <p:cNvSpPr/>
          <p:nvPr/>
        </p:nvSpPr>
        <p:spPr>
          <a:xfrm>
            <a:off x="876240" y="171360"/>
            <a:ext cx="1314432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IMPLEMENTATION KAPANIŞI: WNS +0.144 ns, DRC 0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evidence-frame-12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38100">
            <a:solidFill>
              <a:srgbClr val="2F80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5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Freeform 2"/>
          <p:cNvSpPr/>
          <p:nvPr/>
        </p:nvSpPr>
        <p:spPr>
          <a:xfrm>
            <a:off x="9229320" y="3022560"/>
            <a:ext cx="8029800" cy="4241520"/>
          </a:xfrm>
          <a:custGeom>
            <a:avLst/>
            <a:gdLst>
              <a:gd name="textAreaLeft" fmla="*/ 0 w 8029800"/>
              <a:gd name="textAreaRight" fmla="*/ 8030160 w 8029800"/>
              <a:gd name="textAreaTop" fmla="*/ 0 h 4241520"/>
              <a:gd name="textAreaBottom" fmla="*/ 4241880 h 4241520"/>
            </a:gdLst>
            <a:ahLst/>
            <a:cxnLst/>
            <a:rect l="textAreaLeft" t="textAreaTop" r="textAreaRight" b="textAreaBottom"/>
            <a:pathLst>
              <a:path w="8030155" h="4241948">
                <a:moveTo>
                  <a:pt x="0" y="0"/>
                </a:moveTo>
                <a:lnTo>
                  <a:pt x="8030155" y="0"/>
                </a:lnTo>
                <a:lnTo>
                  <a:pt x="8030155" y="4241948"/>
                </a:lnTo>
                <a:lnTo>
                  <a:pt x="0" y="42419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1028880" y="895320"/>
            <a:ext cx="1445832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547200" y="2946240"/>
            <a:ext cx="7549560" cy="65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XSA / hardware platform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psu_cortexa53_0 standalone domain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PMU firmware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FSBL / PS initialization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no-OS AD9364 driver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ad9364app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-&gt; PL FFT service ve UART protocol v2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Vitis 2020.1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Cortex-A53 bare-metal uygulaması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ADI no-OS sürücüleri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design-header-13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design-header-13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design-header-13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design-header-13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design-header-13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design-header-13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design-header-13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design-header-13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design-accent-13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design-section-13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03 / VITIS &amp; BRING-UP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design-footer-bg-13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design-footer-accent-13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design-footer-label-13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design-page-13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13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design-title-13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VITIS VE BARE-METAL YAZILIM KATMANLARI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5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Table 2"/>
          <p:cNvGraphicFramePr/>
          <p:nvPr/>
        </p:nvGraphicFramePr>
        <p:xfrm>
          <a:off x="720000" y="2045160"/>
          <a:ext cx="6203520" cy="7400520"/>
        </p:xfrm>
        <a:graphic>
          <a:graphicData uri="http://schemas.openxmlformats.org/drawingml/2006/table">
            <a:tbl>
              <a:tblPr/>
              <a:tblGrid>
                <a:gridCol w="3025800"/>
                <a:gridCol w="3177720"/>
              </a:tblGrid>
              <a:tr h="111492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940"/>
                        </a:lnSpc>
                      </a:pPr>
                      <a:r>
                        <a:rPr lang="tr-TR" sz="2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 Bold"/>
                          <a:ea typeface="Helvetica World Bold"/>
                        </a:rPr>
                        <a:t>Belirti</a:t>
                      </a:r>
                      <a:endParaRPr lang="tr-TR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F19A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940"/>
                        </a:lnSpc>
                      </a:pPr>
                      <a:r>
                        <a:rPr lang="tr-TR" sz="2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 Bold"/>
                          <a:ea typeface="Helvetica World Bold"/>
                        </a:rPr>
                        <a:t>İlgili Katman</a:t>
                      </a:r>
                      <a:endParaRPr lang="tr-TR" sz="2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F19A"/>
                    </a:solidFill>
                  </a:tcPr>
                </a:tc>
              </a:tr>
              <a:tr h="104760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Platform “Out-of-date”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FFD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XSA/platform bağımlılığı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FE3"/>
                    </a:solidFill>
                  </a:tcPr>
                </a:tc>
              </a:tr>
              <a:tr h="104760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PMUFW header index hataları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FFD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Vitis index/BSP görünümü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FE3"/>
                    </a:solidFill>
                  </a:tcPr>
                </a:tc>
              </a:tr>
              <a:tr h="95256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PMU-FW is not running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FFD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Güç yönetimi başlatma sırası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FE3"/>
                    </a:solidFill>
                  </a:tcPr>
                </a:tc>
              </a:tr>
              <a:tr h="114228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Instruction transfer timeout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FFD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A53/PS erişimi ve reset durumu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FE3"/>
                    </a:solidFill>
                  </a:tcPr>
                </a:tc>
              </a:tr>
              <a:tr h="104760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DDR Memory write error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FFD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PS/DDR init eksikliği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FE3"/>
                    </a:solidFill>
                  </a:tcPr>
                </a:tc>
              </a:tr>
              <a:tr h="1047600"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AD9364 PRODUCT_ID 0x00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FFFD1"/>
                    </a:solidFill>
                  </a:tcPr>
                </a:tc>
                <a:tc>
                  <a:txBody>
                    <a:bodyPr lIns="190440" tIns="190440" rIns="190440" bIns="190440" anchor="ctr">
                      <a:noAutofit/>
                    </a:bodyPr>
                    <a:p>
                      <a:pPr algn="ctr" defTabSz="914400">
                        <a:lnSpc>
                          <a:spcPts val="21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Helvetica World"/>
                          <a:ea typeface="Helvetica World"/>
                        </a:rPr>
                        <a:t>SPI/peripheral erişimi hazır değil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90440" marR="190440" marT="190440" marB="190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FE3"/>
                    </a:solidFill>
                  </a:tcPr>
                </a:tc>
              </a:tr>
            </a:tbl>
          </a:graphicData>
        </a:graphic>
      </p:graphicFrame>
      <p:sp>
        <p:nvSpPr>
          <p:cNvPr id="321" name="Freeform 3"/>
          <p:cNvSpPr/>
          <p:nvPr/>
        </p:nvSpPr>
        <p:spPr>
          <a:xfrm>
            <a:off x="13453560" y="2045160"/>
            <a:ext cx="3992400" cy="7304760"/>
          </a:xfrm>
          <a:custGeom>
            <a:avLst/>
            <a:gdLst>
              <a:gd name="textAreaLeft" fmla="*/ 0 w 3992400"/>
              <a:gd name="textAreaRight" fmla="*/ 3992760 w 3992400"/>
              <a:gd name="textAreaTop" fmla="*/ 0 h 7304760"/>
              <a:gd name="textAreaBottom" fmla="*/ 7305120 h 7304760"/>
            </a:gdLst>
            <a:ahLst/>
            <a:cxnLst/>
            <a:rect l="textAreaLeft" t="textAreaTop" r="textAreaRight" b="textAreaBottom"/>
            <a:pathLst>
              <a:path w="3992879" h="7305207">
                <a:moveTo>
                  <a:pt x="0" y="0"/>
                </a:moveTo>
                <a:lnTo>
                  <a:pt x="3992879" y="0"/>
                </a:lnTo>
                <a:lnTo>
                  <a:pt x="3992879" y="7305207"/>
                </a:lnTo>
                <a:lnTo>
                  <a:pt x="0" y="730520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4"/>
          <p:cNvSpPr/>
          <p:nvPr/>
        </p:nvSpPr>
        <p:spPr>
          <a:xfrm>
            <a:off x="1028880" y="876240"/>
            <a:ext cx="15022800" cy="13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5"/>
          <p:cNvSpPr/>
          <p:nvPr/>
        </p:nvSpPr>
        <p:spPr>
          <a:xfrm>
            <a:off x="7078320" y="2456280"/>
            <a:ext cx="5777640" cy="59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3920"/>
              </a:lnSpc>
            </a:pPr>
            <a:r>
              <a:rPr lang="tr-TR" sz="28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PMU, PL, Cortex-A53, PS/DDR ve PS–PL sınırı doğru sırada hazırlanmıyordu.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920"/>
              </a:lnSpc>
            </a:pPr>
            <a:r>
              <a:rPr lang="tr-TR" sz="28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Yalnız FPGA programlamak veya yalnız uygulama ELF’i indirmek yeterli değildi.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920"/>
              </a:lnSpc>
            </a:pPr>
            <a:r>
              <a:rPr lang="tr-TR" sz="28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Bazı FSBL koşullarında SerDes/PCIe kalibrasyonu başlangıcı geciktiriyordu.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920"/>
              </a:lnSpc>
            </a:pPr>
            <a:r>
              <a:rPr lang="tr-TR" sz="28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PS–PL isolation ve reset adımları tamamlanmadan peripheral erişimi güvenilir değildi.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design-header-14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design-header-14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design-header-14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design-header-14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design-header-14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design-header-14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design-header-14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design-header-14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design-accent-14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design-section-14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03 / VITIS &amp; BRING-UP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design-footer-bg-14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design-footer-accent-14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design-footer-label-14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design-page-14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14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design-title-14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BRING-UP SIRASINDA GÖRÜLEN HATALAR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A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Freeform 2"/>
          <p:cNvSpPr/>
          <p:nvPr/>
        </p:nvSpPr>
        <p:spPr>
          <a:xfrm>
            <a:off x="1028880" y="2421360"/>
            <a:ext cx="16230240" cy="6410880"/>
          </a:xfrm>
          <a:custGeom>
            <a:avLst/>
            <a:gdLst>
              <a:gd name="textAreaLeft" fmla="*/ 0 w 16230240"/>
              <a:gd name="textAreaRight" fmla="*/ 16230600 w 16230240"/>
              <a:gd name="textAreaTop" fmla="*/ 0 h 6410880"/>
              <a:gd name="textAreaBottom" fmla="*/ 6411240 h 6410880"/>
            </a:gdLst>
            <a:ahLst/>
            <a:cxnLst/>
            <a:rect l="textAreaLeft" t="textAreaTop" r="textAreaRight" b="textAreaBottom"/>
            <a:pathLst>
              <a:path w="16230600" h="6411087">
                <a:moveTo>
                  <a:pt x="0" y="0"/>
                </a:moveTo>
                <a:lnTo>
                  <a:pt x="16230600" y="0"/>
                </a:lnTo>
                <a:lnTo>
                  <a:pt x="16230600" y="6411087"/>
                </a:lnTo>
                <a:lnTo>
                  <a:pt x="0" y="6411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3"/>
          <p:cNvSpPr/>
          <p:nvPr/>
        </p:nvSpPr>
        <p:spPr>
          <a:xfrm>
            <a:off x="4700160" y="914400"/>
            <a:ext cx="888732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design-header-15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design-header-15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design-header-15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design-header-15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design-header-15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design-header-15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design-header-15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design-header-15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design-accent-15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design-section-15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03 / VITIS &amp; BRING-UP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design-footer-bg-15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design-footer-accent-15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design-footer-label-15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design-page-15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15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design-title-15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JTAG BAŞLATMA SIRASI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evidence-frame-15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381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4D3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Freeform 2"/>
          <p:cNvSpPr/>
          <p:nvPr/>
        </p:nvSpPr>
        <p:spPr>
          <a:xfrm>
            <a:off x="7134840" y="2223000"/>
            <a:ext cx="10123920" cy="5840640"/>
          </a:xfrm>
          <a:custGeom>
            <a:avLst/>
            <a:gdLst>
              <a:gd name="textAreaLeft" fmla="*/ 0 w 10123920"/>
              <a:gd name="textAreaRight" fmla="*/ 10124280 w 10123920"/>
              <a:gd name="textAreaTop" fmla="*/ 0 h 5840640"/>
              <a:gd name="textAreaBottom" fmla="*/ 5841000 h 5840640"/>
            </a:gdLst>
            <a:ahLst/>
            <a:cxnLst/>
            <a:rect l="textAreaLeft" t="textAreaTop" r="textAreaRight" b="textAreaBottom"/>
            <a:pathLst>
              <a:path w="10124378" h="5840987">
                <a:moveTo>
                  <a:pt x="0" y="0"/>
                </a:moveTo>
                <a:lnTo>
                  <a:pt x="10124378" y="0"/>
                </a:lnTo>
                <a:lnTo>
                  <a:pt x="10124378" y="5840988"/>
                </a:lnTo>
                <a:lnTo>
                  <a:pt x="0" y="58409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160560" y="490680"/>
            <a:ext cx="17966160" cy="13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4"/>
          <p:cNvSpPr/>
          <p:nvPr/>
        </p:nvSpPr>
        <p:spPr>
          <a:xfrm>
            <a:off x="1028880" y="2833200"/>
            <a:ext cx="5124240" cy="456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3640"/>
              </a:lnSpc>
            </a:pPr>
            <a:r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Tek komut veya çift tıklanabilir “.cmd”</a:t>
            </a:r>
            <a:endParaRPr lang="tr-T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40"/>
              </a:lnSpc>
            </a:pPr>
            <a:r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Xilinx 2020.1 ve artifact yollarını otomatik bulma</a:t>
            </a:r>
            <a:endParaRPr lang="tr-T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40"/>
              </a:lnSpc>
            </a:pPr>
            <a:r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Bitstream/ELF/PMUFW bütünlük kontrolü</a:t>
            </a:r>
            <a:endParaRPr lang="tr-T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40"/>
              </a:lnSpc>
            </a:pPr>
            <a:r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DDR kapısı ve açık hata mesajları</a:t>
            </a:r>
            <a:endParaRPr lang="tr-T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40"/>
              </a:lnSpc>
            </a:pPr>
            <a:r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Tarihli JTAG logu</a:t>
            </a:r>
            <a:endParaRPr lang="tr-T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40"/>
              </a:lnSpc>
            </a:pPr>
            <a:r>
              <a:rPr lang="tr-TR" sz="26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Candidate başarısızlığında Golden geri dönüşü</a:t>
            </a:r>
            <a:endParaRPr lang="tr-T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design-header-16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design-header-16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design-header-16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design-header-16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design-header-16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design-header-16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design-header-16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design-header-16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design-accent-16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design-section-16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03 / VITIS &amp; BRING-UP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design-footer-bg-16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design-footer-accent-16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design-footer-label-16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design-page-16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16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design-title-16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GOLDEN / CANDIDATE OTOMATİK BAŞLATICI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evidence-frame-16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381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B2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Freeform 2"/>
          <p:cNvSpPr/>
          <p:nvPr/>
        </p:nvSpPr>
        <p:spPr>
          <a:xfrm>
            <a:off x="2003760" y="2421720"/>
            <a:ext cx="14280480" cy="3997440"/>
          </a:xfrm>
          <a:custGeom>
            <a:avLst/>
            <a:gdLst>
              <a:gd name="textAreaLeft" fmla="*/ 0 w 14280480"/>
              <a:gd name="textAreaRight" fmla="*/ 14280840 w 14280480"/>
              <a:gd name="textAreaTop" fmla="*/ 0 h 3997440"/>
              <a:gd name="textAreaBottom" fmla="*/ 3997800 h 3997440"/>
            </a:gdLst>
            <a:ahLst/>
            <a:cxnLst/>
            <a:rect l="textAreaLeft" t="textAreaTop" r="textAreaRight" b="textAreaBottom"/>
            <a:pathLst>
              <a:path w="14280716" h="3997657">
                <a:moveTo>
                  <a:pt x="0" y="0"/>
                </a:moveTo>
                <a:lnTo>
                  <a:pt x="14280716" y="0"/>
                </a:lnTo>
                <a:lnTo>
                  <a:pt x="14280716" y="3997657"/>
                </a:lnTo>
                <a:lnTo>
                  <a:pt x="0" y="39976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"/>
          <p:cNvSpPr/>
          <p:nvPr/>
        </p:nvSpPr>
        <p:spPr>
          <a:xfrm>
            <a:off x="1028880" y="914400"/>
            <a:ext cx="667800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4"/>
          <p:cNvSpPr/>
          <p:nvPr/>
        </p:nvSpPr>
        <p:spPr>
          <a:xfrm>
            <a:off x="3287160" y="6868080"/>
            <a:ext cx="11712960" cy="23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PMUFW, PL, PS/DDR ve PS–PL yolu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SPI üzerinden AD9364 Rev 2 okuması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AXI ADC/DDS çekirdekleri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DDR üzerinde DMA aktarımı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design-header-17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design-header-17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design-header-17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design-header-17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design-header-17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design-header-17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design-header-17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design-header-17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design-accent-17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design-section-17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03 / VITIS &amp; BRING-UP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design-footer-bg-17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design-footer-accent-17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design-footer-label-17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design-page-17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F4B942"/>
                </a:solidFill>
                <a:effectLst/>
                <a:uFillTx/>
                <a:latin typeface="Open Sauce Bold"/>
                <a:ea typeface="Open Sauce Bold"/>
              </a:rPr>
              <a:t>17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design-title-17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AD9364 DOĞRULAMASI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evidence-frame-17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381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Box 2"/>
          <p:cNvSpPr/>
          <p:nvPr/>
        </p:nvSpPr>
        <p:spPr>
          <a:xfrm>
            <a:off x="1143000" y="2381400"/>
            <a:ext cx="10667520" cy="12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ts val="7279"/>
              </a:lnSpc>
            </a:pPr>
            <a:r>
              <a:rPr lang="tr-TR" sz="690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GERÇEK RF TESTİ</a:t>
            </a:r>
            <a:endParaRPr lang="tr-TR" sz="6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f-section-number"/>
          <p:cNvSpPr/>
          <p:nvPr/>
        </p:nvSpPr>
        <p:spPr>
          <a:xfrm>
            <a:off x="13430160" y="1619280"/>
            <a:ext cx="333324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750" b="1" u="none" strike="noStrike">
                <a:solidFill>
                  <a:srgbClr val="2A9D8F"/>
                </a:solidFill>
                <a:effectLst/>
                <a:uFillTx/>
                <a:latin typeface="Bebas Neue Bold"/>
                <a:ea typeface="Bebas Neue Bold"/>
              </a:rPr>
              <a:t>04</a:t>
            </a:r>
            <a:endParaRPr lang="tr-TR" sz="18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rf-section-subtitle"/>
          <p:cNvSpPr/>
          <p:nvPr/>
        </p:nvSpPr>
        <p:spPr>
          <a:xfrm>
            <a:off x="1181160" y="4048200"/>
            <a:ext cx="114296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2250" b="0" u="none" strike="noStrike">
                <a:solidFill>
                  <a:srgbClr val="D9E2EC"/>
                </a:solidFill>
                <a:effectLst/>
                <a:uFillTx/>
                <a:latin typeface="Open Sauce"/>
                <a:ea typeface="Open Sauce"/>
              </a:rPr>
              <a:t>Kontrollü CW  •  Peak-bin kabulü  •  100 kare süreklilik</a:t>
            </a:r>
            <a:endParaRPr lang="tr-T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rf-section-kicker"/>
          <p:cNvSpPr/>
          <p:nvPr/>
        </p:nvSpPr>
        <p:spPr>
          <a:xfrm>
            <a:off x="1181160" y="1847880"/>
            <a:ext cx="4000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65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LAB DOĞRULAMASI</a:t>
            </a:r>
            <a:endParaRPr lang="tr-T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f-signal-line-1"/>
          <p:cNvSpPr/>
          <p:nvPr/>
        </p:nvSpPr>
        <p:spPr>
          <a:xfrm>
            <a:off x="1181160" y="6572160"/>
            <a:ext cx="6667200" cy="75960"/>
          </a:xfrm>
          <a:prstGeom prst="rect">
            <a:avLst/>
          </a:prstGeom>
          <a:solidFill>
            <a:srgbClr val="D92D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rf-signal-line-2"/>
          <p:cNvSpPr/>
          <p:nvPr/>
        </p:nvSpPr>
        <p:spPr>
          <a:xfrm>
            <a:off x="2057400" y="6934320"/>
            <a:ext cx="5905080" cy="75960"/>
          </a:xfrm>
          <a:prstGeom prst="rect">
            <a:avLst/>
          </a:prstGeom>
          <a:solidFill>
            <a:srgbClr val="F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f-signal-line-3"/>
          <p:cNvSpPr/>
          <p:nvPr/>
        </p:nvSpPr>
        <p:spPr>
          <a:xfrm>
            <a:off x="2933640" y="7296120"/>
            <a:ext cx="5143320" cy="7596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rf-section-footer"/>
          <p:cNvSpPr/>
          <p:nvPr/>
        </p:nvSpPr>
        <p:spPr>
          <a:xfrm>
            <a:off x="1181160" y="8572680"/>
            <a:ext cx="11429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FFFFFF"/>
                </a:solidFill>
                <a:effectLst/>
                <a:uFillTx/>
                <a:latin typeface="Open Sauce Bold"/>
                <a:ea typeface="Open Sauce Bold"/>
              </a:rPr>
              <a:t>SMW200A → AD9364 RXA → PL FFT → UART/Python</a:t>
            </a:r>
            <a:endParaRPr lang="tr-TR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Freeform 2"/>
          <p:cNvSpPr/>
          <p:nvPr/>
        </p:nvSpPr>
        <p:spPr>
          <a:xfrm>
            <a:off x="2945880" y="3087000"/>
            <a:ext cx="12395880" cy="866160"/>
          </a:xfrm>
          <a:custGeom>
            <a:avLst/>
            <a:gdLst>
              <a:gd name="textAreaLeft" fmla="*/ 0 w 12395880"/>
              <a:gd name="textAreaRight" fmla="*/ 12396240 w 12395880"/>
              <a:gd name="textAreaTop" fmla="*/ 0 h 866160"/>
              <a:gd name="textAreaBottom" fmla="*/ 866520 h 866160"/>
            </a:gdLst>
            <a:ahLst/>
            <a:cxnLst/>
            <a:rect l="textAreaLeft" t="textAreaTop" r="textAreaRight" b="textAreaBottom"/>
            <a:pathLst>
              <a:path w="12396229" h="866513">
                <a:moveTo>
                  <a:pt x="0" y="0"/>
                </a:moveTo>
                <a:lnTo>
                  <a:pt x="12396230" y="0"/>
                </a:lnTo>
                <a:lnTo>
                  <a:pt x="12396230" y="866513"/>
                </a:lnTo>
                <a:lnTo>
                  <a:pt x="0" y="8665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3616200" y="914400"/>
            <a:ext cx="1105488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3425760" y="5067360"/>
            <a:ext cx="10935000" cy="35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AD9364'ten kompleks I/Q örnekleri alınır.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FPGA içinde 2048 noktalı FFT uygulanır.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Tam spektrum korunur ve maksimum peak noktası bulunur.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- 30,72 MSPS örnekleme hızında çözünürlük 15 kHz/bin'dir.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design-header-19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design-header-19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design-header-19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design-header-19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design-header-19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design-header-19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design-header-19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design-header-19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design-accent-19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design-section-19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04 / RF &amp; FFT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design-footer-bg-19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design-footer-accent-19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design-footer-label-19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design-page-19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19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design-title-19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FPGA’DA FFT: SİNYALDEN SPEKTRUMA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5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Freeform 2"/>
          <p:cNvSpPr/>
          <p:nvPr/>
        </p:nvSpPr>
        <p:spPr>
          <a:xfrm>
            <a:off x="9296280" y="1428840"/>
            <a:ext cx="7962480" cy="8286480"/>
          </a:xfrm>
          <a:custGeom>
            <a:avLst/>
            <a:gdLst>
              <a:gd name="textAreaLeft" fmla="*/ 0 w 7962480"/>
              <a:gd name="textAreaRight" fmla="*/ 7962840 w 7962480"/>
              <a:gd name="textAreaTop" fmla="*/ 0 h 8286480"/>
              <a:gd name="textAreaBottom" fmla="*/ 8286840 h 8286480"/>
            </a:gdLst>
            <a:ahLst/>
            <a:cxnLst/>
            <a:rect l="textAreaLeft" t="textAreaTop" r="textAreaRight" b="textAreaBottom"/>
            <a:pathLst>
              <a:path w="7966213" h="8696079">
                <a:moveTo>
                  <a:pt x="0" y="0"/>
                </a:moveTo>
                <a:lnTo>
                  <a:pt x="7966213" y="0"/>
                </a:lnTo>
                <a:lnTo>
                  <a:pt x="7966213" y="8696079"/>
                </a:lnTo>
                <a:lnTo>
                  <a:pt x="0" y="8696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3"/>
          <p:cNvSpPr/>
          <p:nvPr/>
        </p:nvSpPr>
        <p:spPr>
          <a:xfrm>
            <a:off x="1028880" y="923760"/>
            <a:ext cx="8120520" cy="9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4"/>
          <p:cNvSpPr/>
          <p:nvPr/>
        </p:nvSpPr>
        <p:spPr>
          <a:xfrm>
            <a:off x="1028880" y="2643480"/>
            <a:ext cx="7245720" cy="53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FPGA sonucu bağımsız Python/NumPy modeliyle karşılaştırıldı.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Deterministik testlerde bit-doğru sonuç elde edildi.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Kartta tek-frame `PL_FFT: PASS` sonucu alındı.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- 100 ardışık frame boyunca aktarım ve sağlık kontrolleri geçti.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design-header-20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design-header-20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design-header-20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design-header-20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design-header-20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design-header-20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design-header-20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design-header-20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design-accent-20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design-section-20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04 / RF &amp; FFT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design-footer-bg-20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design-footer-accent-20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design-footer-label-20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design-page-20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20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design-title-20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FFT NASIL DOĞRULANDI?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evidence-frame-20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7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Freeform 2"/>
          <p:cNvSpPr/>
          <p:nvPr/>
        </p:nvSpPr>
        <p:spPr>
          <a:xfrm>
            <a:off x="9144000" y="2761200"/>
            <a:ext cx="8117280" cy="6496560"/>
          </a:xfrm>
          <a:custGeom>
            <a:avLst/>
            <a:gdLst>
              <a:gd name="textAreaLeft" fmla="*/ 0 w 8117280"/>
              <a:gd name="textAreaRight" fmla="*/ 8117640 w 8117280"/>
              <a:gd name="textAreaTop" fmla="*/ 0 h 6496560"/>
              <a:gd name="textAreaBottom" fmla="*/ 6496920 h 6496560"/>
            </a:gdLst>
            <a:ahLst/>
            <a:cxnLst/>
            <a:rect l="textAreaLeft" t="textAreaTop" r="textAreaRight" b="textAreaBottom"/>
            <a:pathLst>
              <a:path w="8117508" h="6496953">
                <a:moveTo>
                  <a:pt x="0" y="0"/>
                </a:moveTo>
                <a:lnTo>
                  <a:pt x="8117508" y="0"/>
                </a:lnTo>
                <a:lnTo>
                  <a:pt x="8117508" y="6496953"/>
                </a:lnTo>
                <a:lnTo>
                  <a:pt x="0" y="64969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3"/>
          <p:cNvSpPr/>
          <p:nvPr/>
        </p:nvSpPr>
        <p:spPr>
          <a:xfrm>
            <a:off x="1028880" y="914400"/>
            <a:ext cx="1271520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4"/>
          <p:cNvSpPr/>
          <p:nvPr/>
        </p:nvSpPr>
        <p:spPr>
          <a:xfrm>
            <a:off x="1028880" y="3576600"/>
            <a:ext cx="7280640" cy="47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Bare-metal uygulama FFT sonucunu PS_UART üzerinden bilgisayara taşır.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Python uygulaması spektrum ve waterfall grafiğini oluşturur.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CRC ve frame kontrolleri veri bütünlüğünü doğrular.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759"/>
              </a:lnSpc>
            </a:pPr>
            <a:r>
              <a:rPr lang="tr-TR" sz="34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- 61/61 yazılım testi ve gerçek karttan 10-frame preflight geçti.</a:t>
            </a:r>
            <a:endParaRPr lang="tr-T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design-header-21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design-header-21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design-header-21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design-header-21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design-header-21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design-header-21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design-header-21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design-header-21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design-accent-21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design-section-21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04 / RF &amp; FFT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design-footer-bg-21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design-footer-accent-21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design-footer-label-21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design-page-21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21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design-title-21"/>
          <p:cNvSpPr/>
          <p:nvPr/>
        </p:nvSpPr>
        <p:spPr>
          <a:xfrm>
            <a:off x="876240" y="152280"/>
            <a:ext cx="13811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412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BARE-METAL VERİDEN PYTHON FFT EKRANINA</a:t>
            </a:r>
            <a:endParaRPr lang="tr-TR" sz="4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evidence-frame-2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5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Box 2"/>
          <p:cNvSpPr/>
          <p:nvPr/>
        </p:nvSpPr>
        <p:spPr>
          <a:xfrm>
            <a:off x="271080" y="923760"/>
            <a:ext cx="17745840" cy="9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3"/>
          <p:cNvSpPr/>
          <p:nvPr/>
        </p:nvSpPr>
        <p:spPr>
          <a:xfrm>
            <a:off x="5703120" y="2227680"/>
            <a:ext cx="6881040" cy="37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3779"/>
              </a:lnSpc>
            </a:pPr>
            <a:r>
              <a:rPr lang="tr-TR" sz="36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Tamamlanan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AXU4EVB-P/AD9364 Vivado ve Vitis zinciri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PMUFW/PS/DDR/PS–PL içeren otomatik JTAG launcher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AD9364, DMA ve gerçek RF aktivitesi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Bit-doğru 2048 noktalı PL FFT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Tek-frame ve 100-frame kart kabulü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CRC’li bare-metal/Python laboratuvar yolu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4"/>
          <p:cNvSpPr/>
          <p:nvPr/>
        </p:nvSpPr>
        <p:spPr>
          <a:xfrm>
            <a:off x="10440000" y="6694920"/>
            <a:ext cx="6819120" cy="25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ts val="3359"/>
              </a:lnSpc>
            </a:pPr>
            <a:r>
              <a:rPr lang="tr-TR" sz="36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Sıradaki fiziksel kabul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SMW200A ile RXA’ya düşük seviyeli, DC dışı CW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`2.400300 GHz -&gt; bin 20`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`2.401500 GHz -&gt; bin 100`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- 100 frame boyunca CRC/health/gain sabit ve peak `±1 bin`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Bu kanıt alınana kadar `board_verified=false`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5"/>
          <p:cNvSpPr/>
          <p:nvPr/>
        </p:nvSpPr>
        <p:spPr>
          <a:xfrm>
            <a:off x="1028880" y="6694920"/>
            <a:ext cx="6881040" cy="25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3359"/>
              </a:lnSpc>
            </a:pPr>
            <a:r>
              <a:rPr lang="tr-TR" sz="36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Gelecek monopulse entegrasyonu</a:t>
            </a:r>
            <a:endParaRPr lang="tr-T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ZX80 RF1/RF2 ve HMC936 kontrol eşlemesi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HMC936 için güvenli 5 V aktif-düşük level-shifter/OE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S0–S3 finite-frame durumu ve settling/discard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Ortak peak/band-power ile normalize AZ/EL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`-θ / 0 / +θ` yankısız oda kalibrasyonu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design-header-22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design-header-22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design-header-22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design-header-22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design-header-22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design-header-22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design-header-22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design-header-22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design-accent-22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design-section-22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04 / RF &amp; FFT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design-footer-bg-22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design-footer-accent-22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design-footer-label-22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design-page-22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2A9D8F"/>
                </a:solidFill>
                <a:effectLst/>
                <a:uFillTx/>
                <a:latin typeface="Open Sauce Bold"/>
                <a:ea typeface="Open Sauce Bold"/>
              </a:rPr>
              <a:t>22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design-title-22"/>
          <p:cNvSpPr/>
          <p:nvPr/>
        </p:nvSpPr>
        <p:spPr>
          <a:xfrm>
            <a:off x="876240" y="152280"/>
            <a:ext cx="13239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338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KONTROLLÜ CW, MONOPULSE YOL HARİTASI VE SONUÇ</a:t>
            </a:r>
            <a:endParaRPr lang="tr-TR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5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Box 2"/>
          <p:cNvSpPr/>
          <p:nvPr/>
        </p:nvSpPr>
        <p:spPr>
          <a:xfrm>
            <a:off x="271080" y="923760"/>
            <a:ext cx="17745840" cy="9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7279"/>
              </a:lnSpc>
            </a:pPr>
            <a:r>
              <a:rPr lang="tr-TR" sz="5200" b="1" u="none" strike="noStrike">
                <a:solidFill>
                  <a:srgbClr val="000000"/>
                </a:solidFill>
                <a:effectLst/>
                <a:uFillTx/>
                <a:latin typeface="DejaVu Serif Bold"/>
                <a:ea typeface="DejaVu Serif Bold"/>
              </a:rPr>
              <a:t>Kontrollü CW, monopulse yol haritası ve sonuç</a:t>
            </a:r>
            <a:endParaRPr lang="tr-T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3"/>
          <p:cNvSpPr/>
          <p:nvPr/>
        </p:nvSpPr>
        <p:spPr>
          <a:xfrm>
            <a:off x="5703120" y="2227680"/>
            <a:ext cx="6881040" cy="37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3779"/>
              </a:lnSpc>
            </a:pPr>
            <a:r>
              <a:rPr lang="tr-TR" sz="27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Tamamlanan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AXU4EVB-P/AD9364 Vivado ve Vitis zinciri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PMUFW/PS/DDR/PS–PL içeren otomatik JTAG launcher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AD9364, DMA ve gerçek RF aktivitesi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Bit-doğru 2048 noktalı PL FFT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Tek-frame ve 100-frame kart kabulü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CRC’li bare-metal/Python laboratuvar yolu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4"/>
          <p:cNvSpPr/>
          <p:nvPr/>
        </p:nvSpPr>
        <p:spPr>
          <a:xfrm>
            <a:off x="10440000" y="6694920"/>
            <a:ext cx="6819120" cy="25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ts val="3359"/>
              </a:lnSpc>
            </a:pPr>
            <a:r>
              <a:rPr lang="tr-TR" sz="24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Sıradaki fiziksel kabul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SMW200A ile RXA’ya düşük seviyeli, DC dışı CW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`2.400300 GHz -&gt; bin 20`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`2.401500 GHz -&gt; bin 100`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- 100 frame boyunca CRC/health/gain sabit ve peak `±1 bin`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Bu kanıt alınana kadar `board_verified=false`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5"/>
          <p:cNvSpPr/>
          <p:nvPr/>
        </p:nvSpPr>
        <p:spPr>
          <a:xfrm>
            <a:off x="1028880" y="6694920"/>
            <a:ext cx="6881040" cy="25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3359"/>
              </a:lnSpc>
            </a:pPr>
            <a:r>
              <a:rPr lang="tr-TR" sz="24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Gelecek monopulse entegrasyonu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ZX80 RF1/RF2 ve HMC936 kontrol eşlemesi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HMC936 için güvenli 5 V aktif-düşük level-shifter/OE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S0–S3 finite-frame durumu ve settling/discard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Ortak peak/band-power ile normalize AZ/EL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`-θ / 0 / +θ` yankısız oda kalibrasyonu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ource-body-cover-23"/>
          <p:cNvSpPr/>
          <p:nvPr/>
        </p:nvSpPr>
        <p:spPr>
          <a:xfrm>
            <a:off x="0" y="1219320"/>
            <a:ext cx="18287640" cy="866736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design-header-23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design-header-23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design-header-23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design-header-23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design-header-23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design-header-23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design-header-23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design-header-23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design-accent-23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design-section-23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7C3AED"/>
                </a:solidFill>
                <a:effectLst/>
                <a:uFillTx/>
                <a:latin typeface="Open Sauce Bold"/>
                <a:ea typeface="Open Sauce Bold"/>
              </a:rPr>
              <a:t>05 / KAYNAKÇA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design-footer-bg-23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design-footer-accent-23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design-footer-label-23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design-page-23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7C3AED"/>
                </a:solidFill>
                <a:effectLst/>
                <a:uFillTx/>
                <a:latin typeface="Open Sauce Bold"/>
                <a:ea typeface="Open Sauce Bold"/>
              </a:rPr>
              <a:t>23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design-title-23"/>
          <p:cNvSpPr/>
          <p:nvPr/>
        </p:nvSpPr>
        <p:spPr>
          <a:xfrm>
            <a:off x="876240" y="152280"/>
            <a:ext cx="13239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390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KAYNAKÇA — YAZILIM VE FPGA</a:t>
            </a:r>
            <a:endParaRPr lang="tr-T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ource-23-1-number"/>
          <p:cNvSpPr/>
          <p:nvPr/>
        </p:nvSpPr>
        <p:spPr>
          <a:xfrm>
            <a:off x="876240" y="161928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01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ource-23-1-title"/>
          <p:cNvSpPr/>
          <p:nvPr/>
        </p:nvSpPr>
        <p:spPr>
          <a:xfrm>
            <a:off x="1619280" y="161928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Analog Devices HDL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ource-23-1-detail"/>
          <p:cNvSpPr/>
          <p:nvPr/>
        </p:nvSpPr>
        <p:spPr>
          <a:xfrm>
            <a:off x="1619280" y="206676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Vivado tabanlı HDL kütüphaneleri, IP çekirdekleri ve FMCOMMS referans projeleri.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ource-23-1-link"/>
          <p:cNvSpPr/>
          <p:nvPr/>
        </p:nvSpPr>
        <p:spPr>
          <a:xfrm>
            <a:off x="1619280" y="261936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1"/>
              </a:rPr>
              <a:t>github.com/analogdevicesinc/hdl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ource-23-1-rule"/>
          <p:cNvSpPr/>
          <p:nvPr/>
        </p:nvSpPr>
        <p:spPr>
          <a:xfrm>
            <a:off x="1619280" y="336240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ource-23-2-number"/>
          <p:cNvSpPr/>
          <p:nvPr/>
        </p:nvSpPr>
        <p:spPr>
          <a:xfrm>
            <a:off x="876240" y="357192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02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ource-23-2-title"/>
          <p:cNvSpPr/>
          <p:nvPr/>
        </p:nvSpPr>
        <p:spPr>
          <a:xfrm>
            <a:off x="1619280" y="357192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Analog Devices no-OS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ource-23-2-detail"/>
          <p:cNvSpPr/>
          <p:nvPr/>
        </p:nvSpPr>
        <p:spPr>
          <a:xfrm>
            <a:off x="1619280" y="401940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Bare-metal AD936x sürücüleri, platform katmanı ve örnek uygulamalar.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ource-23-2-link"/>
          <p:cNvSpPr/>
          <p:nvPr/>
        </p:nvSpPr>
        <p:spPr>
          <a:xfrm>
            <a:off x="1619280" y="457200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2"/>
              </a:rPr>
              <a:t>github.com/analogdevicesinc/no-OS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ource-23-2-rule"/>
          <p:cNvSpPr/>
          <p:nvPr/>
        </p:nvSpPr>
        <p:spPr>
          <a:xfrm>
            <a:off x="1619280" y="531504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ource-23-3-number"/>
          <p:cNvSpPr/>
          <p:nvPr/>
        </p:nvSpPr>
        <p:spPr>
          <a:xfrm>
            <a:off x="876240" y="552456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03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ource-23-3-title"/>
          <p:cNvSpPr/>
          <p:nvPr/>
        </p:nvSpPr>
        <p:spPr>
          <a:xfrm>
            <a:off x="1619280" y="55245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Analog Devices Linux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ource-23-3-detail"/>
          <p:cNvSpPr/>
          <p:nvPr/>
        </p:nvSpPr>
        <p:spPr>
          <a:xfrm>
            <a:off x="1619280" y="597204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ADI IIO sürücülerini içeren Linux kernel varyantı.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ource-23-3-link"/>
          <p:cNvSpPr/>
          <p:nvPr/>
        </p:nvSpPr>
        <p:spPr>
          <a:xfrm>
            <a:off x="1619280" y="652464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3"/>
              </a:rPr>
              <a:t>github.com/analogdevicesinc/linux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ource-23-3-rule"/>
          <p:cNvSpPr/>
          <p:nvPr/>
        </p:nvSpPr>
        <p:spPr>
          <a:xfrm>
            <a:off x="1619280" y="726768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ource-23-4-number"/>
          <p:cNvSpPr/>
          <p:nvPr/>
        </p:nvSpPr>
        <p:spPr>
          <a:xfrm>
            <a:off x="876240" y="747720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04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ource-23-4-title"/>
          <p:cNvSpPr/>
          <p:nvPr/>
        </p:nvSpPr>
        <p:spPr>
          <a:xfrm>
            <a:off x="1619280" y="747720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libiio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ource-23-4-detail"/>
          <p:cNvSpPr/>
          <p:nvPr/>
        </p:nvSpPr>
        <p:spPr>
          <a:xfrm>
            <a:off x="1619280" y="792468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Yerel ve uzak Linux IIO cihazlarına erişim sağlayan çapraz platform kütüphanesi.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ource-23-4-link"/>
          <p:cNvSpPr/>
          <p:nvPr/>
        </p:nvSpPr>
        <p:spPr>
          <a:xfrm>
            <a:off x="1619280" y="847728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4"/>
              </a:rPr>
              <a:t>github.com/analogdevicesinc/libiio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ource-23-4-rule"/>
          <p:cNvSpPr/>
          <p:nvPr/>
        </p:nvSpPr>
        <p:spPr>
          <a:xfrm>
            <a:off x="1619280" y="922032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ource-23-5-number"/>
          <p:cNvSpPr/>
          <p:nvPr/>
        </p:nvSpPr>
        <p:spPr>
          <a:xfrm>
            <a:off x="9353520" y="161928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05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ource-23-5-title"/>
          <p:cNvSpPr/>
          <p:nvPr/>
        </p:nvSpPr>
        <p:spPr>
          <a:xfrm>
            <a:off x="10096560" y="161928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pyadi-iio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ource-23-5-detail"/>
          <p:cNvSpPr/>
          <p:nvPr/>
        </p:nvSpPr>
        <p:spPr>
          <a:xfrm>
            <a:off x="10096560" y="206676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ADI donanımlarına IIO üzerinden erişim sağlayan Python arabirimleri.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ource-23-5-link"/>
          <p:cNvSpPr/>
          <p:nvPr/>
        </p:nvSpPr>
        <p:spPr>
          <a:xfrm>
            <a:off x="10096560" y="261936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5"/>
              </a:rPr>
              <a:t>github.com/analogdevicesinc/pyadi-iio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ource-23-5-rule"/>
          <p:cNvSpPr/>
          <p:nvPr/>
        </p:nvSpPr>
        <p:spPr>
          <a:xfrm>
            <a:off x="10096560" y="336240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ource-23-6-number"/>
          <p:cNvSpPr/>
          <p:nvPr/>
        </p:nvSpPr>
        <p:spPr>
          <a:xfrm>
            <a:off x="9353520" y="357192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06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ource-23-6-title"/>
          <p:cNvSpPr/>
          <p:nvPr/>
        </p:nvSpPr>
        <p:spPr>
          <a:xfrm>
            <a:off x="10096560" y="357192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ADI HDL User Guide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ource-23-6-detail"/>
          <p:cNvSpPr/>
          <p:nvPr/>
        </p:nvSpPr>
        <p:spPr>
          <a:xfrm>
            <a:off x="10096560" y="401940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HDL proje oluşturma, desteklenen araç sürümleri ve referans tasarım dokümantasyonu.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ource-23-6-link"/>
          <p:cNvSpPr/>
          <p:nvPr/>
        </p:nvSpPr>
        <p:spPr>
          <a:xfrm>
            <a:off x="10096560" y="457200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6"/>
              </a:rPr>
              <a:t>analogdevicesinc.github.io/hdl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ource-23-6-rule"/>
          <p:cNvSpPr/>
          <p:nvPr/>
        </p:nvSpPr>
        <p:spPr>
          <a:xfrm>
            <a:off x="10096560" y="531504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ource-23-7-number"/>
          <p:cNvSpPr/>
          <p:nvPr/>
        </p:nvSpPr>
        <p:spPr>
          <a:xfrm>
            <a:off x="9353520" y="552456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07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ource-23-7-title"/>
          <p:cNvSpPr/>
          <p:nvPr/>
        </p:nvSpPr>
        <p:spPr>
          <a:xfrm>
            <a:off x="10096560" y="55245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AMD Vivado UG906 — 2020.1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ource-23-7-detail"/>
          <p:cNvSpPr/>
          <p:nvPr/>
        </p:nvSpPr>
        <p:spPr>
          <a:xfrm>
            <a:off x="10096560" y="597204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Tasarım analizi, timing raporları ve implementation closure yöntemleri.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ource-23-7-link"/>
          <p:cNvSpPr/>
          <p:nvPr/>
        </p:nvSpPr>
        <p:spPr>
          <a:xfrm>
            <a:off x="10096560" y="652464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7"/>
              </a:rPr>
              <a:t>docs.amd.com — UG906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ource-23-7-rule"/>
          <p:cNvSpPr/>
          <p:nvPr/>
        </p:nvSpPr>
        <p:spPr>
          <a:xfrm>
            <a:off x="10096560" y="726768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ource-23-8-number"/>
          <p:cNvSpPr/>
          <p:nvPr/>
        </p:nvSpPr>
        <p:spPr>
          <a:xfrm>
            <a:off x="9353520" y="747720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08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ource-23-8-title"/>
          <p:cNvSpPr/>
          <p:nvPr/>
        </p:nvSpPr>
        <p:spPr>
          <a:xfrm>
            <a:off x="10096560" y="747720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Zynq UltraScale+ TRM — UG1085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ource-23-8-detail"/>
          <p:cNvSpPr/>
          <p:nvPr/>
        </p:nvSpPr>
        <p:spPr>
          <a:xfrm>
            <a:off x="10096560" y="792468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Processing system, DDR, PMU, JTAG ve PS–PL arabirimleri için teknik başvuru.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ource-23-8-link"/>
          <p:cNvSpPr/>
          <p:nvPr/>
        </p:nvSpPr>
        <p:spPr>
          <a:xfrm>
            <a:off x="10096560" y="847728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8"/>
              </a:rPr>
              <a:t>docs.amd.com — UG1085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ource-23-8-rule"/>
          <p:cNvSpPr/>
          <p:nvPr/>
        </p:nvSpPr>
        <p:spPr>
          <a:xfrm>
            <a:off x="10096560" y="922032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5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Box 2"/>
          <p:cNvSpPr/>
          <p:nvPr/>
        </p:nvSpPr>
        <p:spPr>
          <a:xfrm>
            <a:off x="271080" y="923760"/>
            <a:ext cx="17745840" cy="9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7279"/>
              </a:lnSpc>
            </a:pPr>
            <a:r>
              <a:rPr lang="tr-TR" sz="5200" b="1" u="none" strike="noStrike">
                <a:solidFill>
                  <a:srgbClr val="000000"/>
                </a:solidFill>
                <a:effectLst/>
                <a:uFillTx/>
                <a:latin typeface="DejaVu Serif Bold"/>
                <a:ea typeface="DejaVu Serif Bold"/>
              </a:rPr>
              <a:t>Kontrollü CW, monopulse yol haritası ve sonuç</a:t>
            </a:r>
            <a:endParaRPr lang="tr-TR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3"/>
          <p:cNvSpPr/>
          <p:nvPr/>
        </p:nvSpPr>
        <p:spPr>
          <a:xfrm>
            <a:off x="5703120" y="2227680"/>
            <a:ext cx="6881040" cy="37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ts val="3779"/>
              </a:lnSpc>
            </a:pPr>
            <a:r>
              <a:rPr lang="tr-TR" sz="27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Tamamlanan</a:t>
            </a: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endParaRPr lang="tr-T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AXU4EVB-P/AD9364 Vivado ve Vitis zinciri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PMUFW/PS/DDR/PS–PL içeren otomatik JTAG launcher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AD9364, DMA ve gerçek RF aktivitesi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Bit-doğru 2048 noktalı PL FFT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Tek-frame ve 100-frame kart kabulü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3220"/>
              </a:lnSpc>
            </a:pPr>
            <a:r>
              <a:rPr lang="tr-TR" sz="23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CRC’li bare-metal/Python laboratuvar yolu</a:t>
            </a:r>
            <a:endParaRPr lang="tr-T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4"/>
          <p:cNvSpPr/>
          <p:nvPr/>
        </p:nvSpPr>
        <p:spPr>
          <a:xfrm>
            <a:off x="10440000" y="6694920"/>
            <a:ext cx="6819120" cy="25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ts val="3359"/>
              </a:lnSpc>
            </a:pPr>
            <a:r>
              <a:rPr lang="tr-TR" sz="24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Sıradaki fiziksel kabul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SMW200A ile RXA’ya düşük seviyeli, DC dışı CW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`2.400300 GHz -&gt; bin 20`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`2.401500 GHz -&gt; bin 100`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- 100 frame boyunca CRC/health/gain sabit ve peak `±1 bin`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Bu kanıt alınana kadar `board_verified=false`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5"/>
          <p:cNvSpPr/>
          <p:nvPr/>
        </p:nvSpPr>
        <p:spPr>
          <a:xfrm>
            <a:off x="1028880" y="6694920"/>
            <a:ext cx="6881040" cy="25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ts val="3359"/>
              </a:lnSpc>
            </a:pPr>
            <a:r>
              <a:rPr lang="tr-TR" sz="2400" b="1" u="none" strike="noStrike">
                <a:solidFill>
                  <a:srgbClr val="000000"/>
                </a:solidFill>
                <a:effectLst/>
                <a:uFillTx/>
                <a:latin typeface="Helvetica World Bold"/>
                <a:ea typeface="Helvetica World Bold"/>
              </a:rPr>
              <a:t>Gelecek monopulse entegrasyonu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ZX80 RF1/RF2 ve HMC936 kontrol eşlemesi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HMC936 için güvenli 5 V aktif-düşük level-shifter/OE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S0–S3 finite-frame durumu ve settling/discard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Ortak peak/band-power ile normalize AZ/EL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801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Helvetica World"/>
                <a:ea typeface="Helvetica World"/>
              </a:rPr>
              <a:t>- `-θ / 0 / +θ` yankısız oda kalibrasyonu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ource-body-cover-24"/>
          <p:cNvSpPr/>
          <p:nvPr/>
        </p:nvSpPr>
        <p:spPr>
          <a:xfrm>
            <a:off x="0" y="1219320"/>
            <a:ext cx="18287640" cy="866736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design-header-24-1"/>
          <p:cNvSpPr/>
          <p:nvPr/>
        </p:nvSpPr>
        <p:spPr>
          <a:xfrm>
            <a:off x="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design-header-24-2"/>
          <p:cNvSpPr/>
          <p:nvPr/>
        </p:nvSpPr>
        <p:spPr>
          <a:xfrm>
            <a:off x="228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design-header-24-3"/>
          <p:cNvSpPr/>
          <p:nvPr/>
        </p:nvSpPr>
        <p:spPr>
          <a:xfrm>
            <a:off x="4572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design-header-24-4"/>
          <p:cNvSpPr/>
          <p:nvPr/>
        </p:nvSpPr>
        <p:spPr>
          <a:xfrm>
            <a:off x="6858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design-header-24-5"/>
          <p:cNvSpPr/>
          <p:nvPr/>
        </p:nvSpPr>
        <p:spPr>
          <a:xfrm>
            <a:off x="9144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design-header-24-6"/>
          <p:cNvSpPr/>
          <p:nvPr/>
        </p:nvSpPr>
        <p:spPr>
          <a:xfrm>
            <a:off x="11430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design-header-24-7"/>
          <p:cNvSpPr/>
          <p:nvPr/>
        </p:nvSpPr>
        <p:spPr>
          <a:xfrm>
            <a:off x="13716000" y="9360"/>
            <a:ext cx="229500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design-header-24-8"/>
          <p:cNvSpPr/>
          <p:nvPr/>
        </p:nvSpPr>
        <p:spPr>
          <a:xfrm>
            <a:off x="16002000" y="9360"/>
            <a:ext cx="2285640" cy="120924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design-accent-24"/>
          <p:cNvSpPr/>
          <p:nvPr/>
        </p:nvSpPr>
        <p:spPr>
          <a:xfrm>
            <a:off x="0" y="1143000"/>
            <a:ext cx="18287640" cy="759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design-section-24"/>
          <p:cNvSpPr/>
          <p:nvPr/>
        </p:nvSpPr>
        <p:spPr>
          <a:xfrm>
            <a:off x="14382720" y="399960"/>
            <a:ext cx="3047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800" b="1" u="none" strike="noStrike">
                <a:solidFill>
                  <a:srgbClr val="7C3AED"/>
                </a:solidFill>
                <a:effectLst/>
                <a:uFillTx/>
                <a:latin typeface="Open Sauce Bold"/>
                <a:ea typeface="Open Sauce Bold"/>
              </a:rPr>
              <a:t>05 / KAYNAKÇA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design-footer-bg-24"/>
          <p:cNvSpPr/>
          <p:nvPr/>
        </p:nvSpPr>
        <p:spPr>
          <a:xfrm>
            <a:off x="0" y="9944280"/>
            <a:ext cx="18287640" cy="342720"/>
          </a:xfrm>
          <a:prstGeom prst="rect">
            <a:avLst/>
          </a:prstGeom>
          <a:solidFill>
            <a:srgbClr val="F7F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design-footer-accent-24"/>
          <p:cNvSpPr/>
          <p:nvPr/>
        </p:nvSpPr>
        <p:spPr>
          <a:xfrm>
            <a:off x="0" y="9887040"/>
            <a:ext cx="18287640" cy="568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design-footer-label-24"/>
          <p:cNvSpPr/>
          <p:nvPr/>
        </p:nvSpPr>
        <p:spPr>
          <a:xfrm>
            <a:off x="533520" y="9944280"/>
            <a:ext cx="11905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00" b="0" u="none" strike="noStrike">
                <a:solidFill>
                  <a:srgbClr val="102A43"/>
                </a:solidFill>
                <a:effectLst/>
                <a:uFillTx/>
                <a:latin typeface="Open Sauce"/>
                <a:ea typeface="Open Sauce"/>
              </a:rPr>
              <a:t>AXU4EVB-P + AD9364  |  Gerçek Zamanlı FPGA FFT ve Monopulse Altyapısı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design-page-24"/>
          <p:cNvSpPr/>
          <p:nvPr/>
        </p:nvSpPr>
        <p:spPr>
          <a:xfrm>
            <a:off x="16002000" y="994428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tr-TR" sz="1280" b="1" u="none" strike="noStrike">
                <a:solidFill>
                  <a:srgbClr val="7C3AED"/>
                </a:solidFill>
                <a:effectLst/>
                <a:uFillTx/>
                <a:latin typeface="Open Sauce Bold"/>
                <a:ea typeface="Open Sauce Bold"/>
              </a:rPr>
              <a:t>24 / 24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design-title-24"/>
          <p:cNvSpPr/>
          <p:nvPr/>
        </p:nvSpPr>
        <p:spPr>
          <a:xfrm>
            <a:off x="876240" y="152280"/>
            <a:ext cx="13239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3900" b="1" u="none" strike="noStrike">
                <a:solidFill>
                  <a:srgbClr val="FFFFFF"/>
                </a:solidFill>
                <a:effectLst/>
                <a:uFillTx/>
                <a:latin typeface="Bebas Neue Bold"/>
                <a:ea typeface="Bebas Neue Bold"/>
              </a:rPr>
              <a:t>KAYNAKÇA — DONANIM VE AKADEMİK ÇALIŞMALAR</a:t>
            </a:r>
            <a:endParaRPr lang="tr-T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ource-24-9-number"/>
          <p:cNvSpPr/>
          <p:nvPr/>
        </p:nvSpPr>
        <p:spPr>
          <a:xfrm>
            <a:off x="876240" y="161928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09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ource-24-9-title"/>
          <p:cNvSpPr/>
          <p:nvPr/>
        </p:nvSpPr>
        <p:spPr>
          <a:xfrm>
            <a:off x="1619280" y="161928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AD9364 Ürün Sayfası ve Veri Sayfası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ource-24-9-detail"/>
          <p:cNvSpPr/>
          <p:nvPr/>
        </p:nvSpPr>
        <p:spPr>
          <a:xfrm>
            <a:off x="1619280" y="206676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RF transceiver özellikleri, frekans aralığı, bant genişliği ve teknik dokümanlar.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ource-24-9-link"/>
          <p:cNvSpPr/>
          <p:nvPr/>
        </p:nvSpPr>
        <p:spPr>
          <a:xfrm>
            <a:off x="1619280" y="261936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1"/>
              </a:rPr>
              <a:t>analog.com — AD9364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ource-24-9-rule"/>
          <p:cNvSpPr/>
          <p:nvPr/>
        </p:nvSpPr>
        <p:spPr>
          <a:xfrm>
            <a:off x="1619280" y="336240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ource-24-10-number"/>
          <p:cNvSpPr/>
          <p:nvPr/>
        </p:nvSpPr>
        <p:spPr>
          <a:xfrm>
            <a:off x="876240" y="357192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10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ource-24-10-title"/>
          <p:cNvSpPr/>
          <p:nvPr/>
        </p:nvSpPr>
        <p:spPr>
          <a:xfrm>
            <a:off x="1619280" y="357192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AD-FMCOMMS3-EBZ User Guide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ource-24-10-detail"/>
          <p:cNvSpPr/>
          <p:nvPr/>
        </p:nvSpPr>
        <p:spPr>
          <a:xfrm>
            <a:off x="1619280" y="401940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RF portları, kart yapısı ve AD936x tabanlı değerlendirme kartı kullanım bilgileri.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ource-24-10-link"/>
          <p:cNvSpPr/>
          <p:nvPr/>
        </p:nvSpPr>
        <p:spPr>
          <a:xfrm>
            <a:off x="1619280" y="457200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2"/>
              </a:rPr>
              <a:t>wiki.analog.com — AD-FMCOMMS3-EBZ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ource-24-10-rule"/>
          <p:cNvSpPr/>
          <p:nvPr/>
        </p:nvSpPr>
        <p:spPr>
          <a:xfrm>
            <a:off x="1619280" y="531504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ource-24-11-number"/>
          <p:cNvSpPr/>
          <p:nvPr/>
        </p:nvSpPr>
        <p:spPr>
          <a:xfrm>
            <a:off x="876240" y="552456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11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ource-24-11-title"/>
          <p:cNvSpPr/>
          <p:nvPr/>
        </p:nvSpPr>
        <p:spPr>
          <a:xfrm>
            <a:off x="1619280" y="55245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AXU4EVB-P Kullanıcı Kılavuzu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ource-24-11-detail"/>
          <p:cNvSpPr/>
          <p:nvPr/>
        </p:nvSpPr>
        <p:spPr>
          <a:xfrm>
            <a:off x="1619280" y="597204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Kart arabirimleri, JTAG, PS_UART, güç ve FMC bağlantıları. Proje içi yerel belge.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ource-24-11-rule"/>
          <p:cNvSpPr/>
          <p:nvPr/>
        </p:nvSpPr>
        <p:spPr>
          <a:xfrm>
            <a:off x="1619280" y="726768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ource-24-12-number"/>
          <p:cNvSpPr/>
          <p:nvPr/>
        </p:nvSpPr>
        <p:spPr>
          <a:xfrm>
            <a:off x="876240" y="747720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12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ource-24-12-title"/>
          <p:cNvSpPr/>
          <p:nvPr/>
        </p:nvSpPr>
        <p:spPr>
          <a:xfrm>
            <a:off x="1619280" y="747720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AXU4EV-P / AXU5EV-P Şematikleri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ource-24-12-detail"/>
          <p:cNvSpPr/>
          <p:nvPr/>
        </p:nvSpPr>
        <p:spPr>
          <a:xfrm>
            <a:off x="1619280" y="792468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FMC, PS, saat, reset ve top-level port eşlemeleri. Proje içi yerel belge.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ource-24-12-rule"/>
          <p:cNvSpPr/>
          <p:nvPr/>
        </p:nvSpPr>
        <p:spPr>
          <a:xfrm>
            <a:off x="1619280" y="922032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ource-24-13-number"/>
          <p:cNvSpPr/>
          <p:nvPr/>
        </p:nvSpPr>
        <p:spPr>
          <a:xfrm>
            <a:off x="9353520" y="161928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13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ource-24-13-title"/>
          <p:cNvSpPr/>
          <p:nvPr/>
        </p:nvSpPr>
        <p:spPr>
          <a:xfrm>
            <a:off x="10096560" y="161928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HMC936A 6-Bit Digital Phase Shifter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ource-24-13-detail"/>
          <p:cNvSpPr/>
          <p:nvPr/>
        </p:nvSpPr>
        <p:spPr>
          <a:xfrm>
            <a:off x="10096560" y="206676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EV1HMC936ALP6 kartı, dijital kontrol bitleri ve RF faz kaydırma özellikleri.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ource-24-13-link"/>
          <p:cNvSpPr/>
          <p:nvPr/>
        </p:nvSpPr>
        <p:spPr>
          <a:xfrm>
            <a:off x="10096560" y="261936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3"/>
              </a:rPr>
              <a:t>analog.com — HMC936A datasheet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ource-24-13-rule"/>
          <p:cNvSpPr/>
          <p:nvPr/>
        </p:nvSpPr>
        <p:spPr>
          <a:xfrm>
            <a:off x="10096560" y="336240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ource-24-14-number"/>
          <p:cNvSpPr/>
          <p:nvPr/>
        </p:nvSpPr>
        <p:spPr>
          <a:xfrm>
            <a:off x="9353520" y="357192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14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ource-24-14-title"/>
          <p:cNvSpPr/>
          <p:nvPr/>
        </p:nvSpPr>
        <p:spPr>
          <a:xfrm>
            <a:off x="10096560" y="357192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Mini-Circuits ZX80-DR230-S+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ource-24-14-detail"/>
          <p:cNvSpPr/>
          <p:nvPr/>
        </p:nvSpPr>
        <p:spPr>
          <a:xfrm>
            <a:off x="10096560" y="401940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DC–3000 MHz absorptive SPDT RF switch ürün ve veri sayfası.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ource-24-14-link"/>
          <p:cNvSpPr/>
          <p:nvPr/>
        </p:nvSpPr>
        <p:spPr>
          <a:xfrm>
            <a:off x="10096560" y="457200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4"/>
              </a:rPr>
              <a:t>minicircuits.com — ZX80-DR230-S+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ource-24-14-rule"/>
          <p:cNvSpPr/>
          <p:nvPr/>
        </p:nvSpPr>
        <p:spPr>
          <a:xfrm>
            <a:off x="10096560" y="531504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ource-24-15-number"/>
          <p:cNvSpPr/>
          <p:nvPr/>
        </p:nvSpPr>
        <p:spPr>
          <a:xfrm>
            <a:off x="9353520" y="552456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15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ource-24-15-title"/>
          <p:cNvSpPr/>
          <p:nvPr/>
        </p:nvSpPr>
        <p:spPr>
          <a:xfrm>
            <a:off x="10096560" y="55245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Kim, Lee ve Lee — IEEE Access, 2020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ource-24-15-detail"/>
          <p:cNvSpPr/>
          <p:nvPr/>
        </p:nvSpPr>
        <p:spPr>
          <a:xfrm>
            <a:off x="10096560" y="597204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Long-range air-to-ground haberleşmede monopulse anten takip yaklaşımı.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ource-24-15-link"/>
          <p:cNvSpPr/>
          <p:nvPr/>
        </p:nvSpPr>
        <p:spPr>
          <a:xfrm>
            <a:off x="10096560" y="6524640"/>
            <a:ext cx="6857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tr-TR" sz="1280" b="1" u="sng" strike="noStrike">
                <a:solidFill>
                  <a:srgbClr val="0000FF"/>
                </a:solidFill>
                <a:effectLst/>
                <a:uFillTx/>
                <a:latin typeface="Open Sauce Bold"/>
                <a:ea typeface="Open Sauce Bold"/>
                <a:hlinkClick r:id="rId5"/>
              </a:rPr>
              <a:t>DOI: 10.1109/ACCESS.2020.3022932</a:t>
            </a:r>
            <a:endParaRPr lang="tr-T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ource-24-15-rule"/>
          <p:cNvSpPr/>
          <p:nvPr/>
        </p:nvSpPr>
        <p:spPr>
          <a:xfrm>
            <a:off x="10096560" y="726768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ource-24-16-number"/>
          <p:cNvSpPr/>
          <p:nvPr/>
        </p:nvSpPr>
        <p:spPr>
          <a:xfrm>
            <a:off x="9353520" y="7477200"/>
            <a:ext cx="62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2930" b="1" u="none" strike="noStrike">
                <a:solidFill>
                  <a:srgbClr val="7C3AED"/>
                </a:solidFill>
                <a:effectLst/>
                <a:uFillTx/>
                <a:latin typeface="Bebas Neue Bold"/>
                <a:ea typeface="Bebas Neue Bold"/>
              </a:rPr>
              <a:t>16</a:t>
            </a:r>
            <a:endParaRPr lang="tr-TR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ource-24-16-title"/>
          <p:cNvSpPr/>
          <p:nvPr/>
        </p:nvSpPr>
        <p:spPr>
          <a:xfrm>
            <a:off x="10096560" y="747720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729" b="1" u="none" strike="noStrike">
                <a:solidFill>
                  <a:srgbClr val="102A43"/>
                </a:solidFill>
                <a:effectLst/>
                <a:uFillTx/>
                <a:latin typeface="Open Sauce Bold"/>
                <a:ea typeface="Open Sauce Bold"/>
              </a:rPr>
              <a:t>AD9364 Şematik ve Proje Raporları</a:t>
            </a:r>
            <a:endParaRPr lang="tr-T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ource-24-16-detail"/>
          <p:cNvSpPr/>
          <p:nvPr/>
        </p:nvSpPr>
        <p:spPr>
          <a:xfrm>
            <a:off x="10096560" y="7924680"/>
            <a:ext cx="68576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tr-TR" sz="1350" b="0" u="none" strike="noStrike">
                <a:solidFill>
                  <a:srgbClr val="52606D"/>
                </a:solidFill>
                <a:effectLst/>
                <a:uFillTx/>
                <a:latin typeface="Open Sauce"/>
                <a:ea typeface="Open Sauce"/>
              </a:rPr>
              <a:t>AD9364 bağlantıları, doğrulama kararları ve uygulama kayıtları. Proje içi yerel belgeler.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ource-24-16-rule"/>
          <p:cNvSpPr/>
          <p:nvPr/>
        </p:nvSpPr>
        <p:spPr>
          <a:xfrm>
            <a:off x="10096560" y="9220320"/>
            <a:ext cx="6857640" cy="18720"/>
          </a:xfrm>
          <a:prstGeom prst="rect">
            <a:avLst/>
          </a:prstGeom>
          <a:solidFill>
            <a:srgbClr val="D8D2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2026-07-29T12:46:33Z</dcterms:created>
  <dc:creator>Walnut Exporter</dc:creator>
  <dc:description/>
  <dc:language>tr-TR</dc:language>
  <cp:lastModifiedBy/>
  <dcterms:modified xsi:type="dcterms:W3CDTF">2026-07-29T15:57:02Z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